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36"/>
    <p:restoredTop sz="94610"/>
  </p:normalViewPr>
  <p:slideViewPr>
    <p:cSldViewPr snapToGrid="0" snapToObjects="1">
      <p:cViewPr varScale="1">
        <p:scale>
          <a:sx n="62" d="100"/>
          <a:sy n="62" d="100"/>
        </p:scale>
        <p:origin x="7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927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0E2A"/>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A1B5D">
              <a:alpha val="60000"/>
            </a:srgbClr>
          </a:solidFill>
          <a:ln/>
        </p:spPr>
        <p:txBody>
          <a:bodyPr/>
          <a:lstStyle/>
          <a:p>
            <a:endParaRPr lang="en-TH"/>
          </a:p>
        </p:txBody>
      </p:sp>
      <p:sp>
        <p:nvSpPr>
          <p:cNvPr id="3" name="Shape 1"/>
          <p:cNvSpPr/>
          <p:nvPr/>
        </p:nvSpPr>
        <p:spPr>
          <a:xfrm>
            <a:off x="10607040" y="3840480"/>
            <a:ext cx="2743200" cy="2743200"/>
          </a:xfrm>
          <a:prstGeom prst="ellipse">
            <a:avLst/>
          </a:prstGeom>
          <a:solidFill>
            <a:srgbClr val="5B3FA0">
              <a:alpha val="65000"/>
            </a:srgbClr>
          </a:solidFill>
          <a:ln/>
        </p:spPr>
        <p:txBody>
          <a:bodyPr/>
          <a:lstStyle/>
          <a:p>
            <a:endParaRPr lang="en-TH"/>
          </a:p>
        </p:txBody>
      </p:sp>
      <p:sp>
        <p:nvSpPr>
          <p:cNvPr id="4" name="Shape 2"/>
          <p:cNvSpPr/>
          <p:nvPr/>
        </p:nvSpPr>
        <p:spPr>
          <a:xfrm>
            <a:off x="822960" y="914400"/>
            <a:ext cx="822960" cy="822960"/>
          </a:xfrm>
          <a:prstGeom prst="ellipse">
            <a:avLst/>
          </a:prstGeom>
          <a:solidFill>
            <a:srgbClr val="5B3FA0"/>
          </a:solidFill>
          <a:ln/>
        </p:spPr>
        <p:txBody>
          <a:bodyPr/>
          <a:lstStyle/>
          <a:p>
            <a:endParaRPr lang="en-TH"/>
          </a:p>
        </p:txBody>
      </p:sp>
      <p:pic>
        <p:nvPicPr>
          <p:cNvPr id="5" name="Image 0" descr="preencoded.png"/>
          <p:cNvPicPr>
            <a:picLocks noChangeAspect="1"/>
          </p:cNvPicPr>
          <p:nvPr/>
        </p:nvPicPr>
        <p:blipFill>
          <a:blip r:embed="rId3"/>
          <a:stretch>
            <a:fillRect/>
          </a:stretch>
        </p:blipFill>
        <p:spPr>
          <a:xfrm>
            <a:off x="1036930" y="1128370"/>
            <a:ext cx="395021" cy="395021"/>
          </a:xfrm>
          <a:prstGeom prst="rect">
            <a:avLst/>
          </a:prstGeom>
        </p:spPr>
      </p:pic>
      <p:sp>
        <p:nvSpPr>
          <p:cNvPr id="6" name="Text 3"/>
          <p:cNvSpPr/>
          <p:nvPr/>
        </p:nvSpPr>
        <p:spPr>
          <a:xfrm>
            <a:off x="822960" y="1965960"/>
            <a:ext cx="9875520" cy="365760"/>
          </a:xfrm>
          <a:prstGeom prst="rect">
            <a:avLst/>
          </a:prstGeom>
          <a:noFill/>
          <a:ln/>
        </p:spPr>
        <p:txBody>
          <a:bodyPr wrap="square" rtlCol="0" anchor="ctr"/>
          <a:lstStyle/>
          <a:p>
            <a:pPr marL="0" indent="0">
              <a:buNone/>
            </a:pPr>
            <a:r>
              <a:rPr lang="en-US" sz="1300" b="1" kern="0" spc="200" dirty="0">
                <a:solidFill>
                  <a:srgbClr val="00C2A8"/>
                </a:solidFill>
                <a:latin typeface="Calibri" pitchFamily="34" charset="0"/>
                <a:ea typeface="Calibri" pitchFamily="34" charset="-122"/>
                <a:cs typeface="Calibri" pitchFamily="34" charset="-120"/>
              </a:rPr>
              <a:t>COMPUTER NETWORK AND INFORMATION SECURITY — FINAL PRESENTATION</a:t>
            </a:r>
            <a:endParaRPr lang="en-US" sz="1300" dirty="0"/>
          </a:p>
        </p:txBody>
      </p:sp>
      <p:sp>
        <p:nvSpPr>
          <p:cNvPr id="7" name="Text 4"/>
          <p:cNvSpPr/>
          <p:nvPr/>
        </p:nvSpPr>
        <p:spPr>
          <a:xfrm>
            <a:off x="777240" y="2377440"/>
            <a:ext cx="10515600" cy="13716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Post-Quantum Cryptography</a:t>
            </a:r>
            <a:endParaRPr lang="en-US" sz="4400" dirty="0"/>
          </a:p>
        </p:txBody>
      </p:sp>
      <p:sp>
        <p:nvSpPr>
          <p:cNvPr id="8" name="Text 5"/>
          <p:cNvSpPr/>
          <p:nvPr/>
        </p:nvSpPr>
        <p:spPr>
          <a:xfrm>
            <a:off x="822960" y="3611880"/>
            <a:ext cx="9601200" cy="548640"/>
          </a:xfrm>
          <a:prstGeom prst="rect">
            <a:avLst/>
          </a:prstGeom>
          <a:noFill/>
          <a:ln/>
        </p:spPr>
        <p:txBody>
          <a:bodyPr wrap="square" rtlCol="0" anchor="ctr"/>
          <a:lstStyle/>
          <a:p>
            <a:pPr marL="0" indent="0">
              <a:buNone/>
            </a:pPr>
            <a:r>
              <a:rPr lang="en-US" sz="1800" i="1" dirty="0">
                <a:solidFill>
                  <a:srgbClr val="CFCBEE"/>
                </a:solidFill>
                <a:latin typeface="Calibri" pitchFamily="34" charset="0"/>
                <a:ea typeface="Calibri" pitchFamily="34" charset="-122"/>
                <a:cs typeface="Calibri" pitchFamily="34" charset="-120"/>
              </a:rPr>
              <a:t>Securing tomorrow's data against today's harvested traffic</a:t>
            </a:r>
            <a:endParaRPr lang="en-US" sz="1800" dirty="0"/>
          </a:p>
        </p:txBody>
      </p:sp>
      <p:sp>
        <p:nvSpPr>
          <p:cNvPr id="9" name="Text 6"/>
          <p:cNvSpPr/>
          <p:nvPr/>
        </p:nvSpPr>
        <p:spPr>
          <a:xfrm>
            <a:off x="822960" y="5120640"/>
            <a:ext cx="7315200" cy="1005840"/>
          </a:xfrm>
          <a:prstGeom prst="rect">
            <a:avLst/>
          </a:prstGeom>
          <a:noFill/>
          <a:ln/>
        </p:spPr>
        <p:txBody>
          <a:bodyPr wrap="square" rtlCol="0" anchor="ctr"/>
          <a:lstStyle/>
          <a:p>
            <a:pPr marL="0" indent="0">
              <a:buNone/>
            </a:pPr>
            <a:r>
              <a:rPr lang="en-US" sz="1400" b="1" dirty="0">
                <a:solidFill>
                  <a:srgbClr val="E5E2F7"/>
                </a:solidFill>
                <a:latin typeface="Calibri" pitchFamily="34" charset="0"/>
                <a:ea typeface="Calibri" pitchFamily="34" charset="-122"/>
                <a:cs typeface="Calibri" pitchFamily="34" charset="-120"/>
              </a:rPr>
              <a:t>Instructed by: </a:t>
            </a:r>
            <a:r>
              <a:rPr lang="en-US" sz="1400" dirty="0">
                <a:solidFill>
                  <a:srgbClr val="E5E2F7"/>
                </a:solidFill>
                <a:latin typeface="Calibri" pitchFamily="34" charset="0"/>
                <a:ea typeface="Calibri" pitchFamily="34" charset="-122"/>
                <a:cs typeface="Calibri" pitchFamily="34" charset="-120"/>
              </a:rPr>
              <a:t>Assoc. Prof. Suratose Tritilanunt, Ph.D</a:t>
            </a:r>
            <a:endParaRPr lang="en-US" sz="1400" dirty="0"/>
          </a:p>
          <a:p>
            <a:pPr marL="0" indent="0">
              <a:buNone/>
            </a:pPr>
            <a:r>
              <a:rPr lang="en-US" sz="1400" b="1" dirty="0">
                <a:solidFill>
                  <a:srgbClr val="E5E2F7"/>
                </a:solidFill>
                <a:latin typeface="Calibri" pitchFamily="34" charset="0"/>
                <a:ea typeface="Calibri" pitchFamily="34" charset="-122"/>
                <a:cs typeface="Calibri" pitchFamily="34" charset="-120"/>
              </a:rPr>
              <a:t>Submitted by: </a:t>
            </a:r>
            <a:r>
              <a:rPr lang="en-US" sz="1400" dirty="0">
                <a:solidFill>
                  <a:srgbClr val="E5E2F7"/>
                </a:solidFill>
                <a:latin typeface="Calibri" pitchFamily="34" charset="0"/>
                <a:ea typeface="Calibri" pitchFamily="34" charset="-122"/>
                <a:cs typeface="Calibri" pitchFamily="34" charset="-120"/>
              </a:rPr>
              <a:t>Nathan Tanaboriboon  (ID: 6681224)</a:t>
            </a:r>
            <a:endParaRPr lang="en-US" sz="1400" dirty="0"/>
          </a:p>
        </p:txBody>
      </p:sp>
      <p:sp>
        <p:nvSpPr>
          <p:cNvPr id="10" name="Text 7"/>
          <p:cNvSpPr/>
          <p:nvPr/>
        </p:nvSpPr>
        <p:spPr>
          <a:xfrm>
            <a:off x="822960" y="6263640"/>
            <a:ext cx="9144000" cy="365760"/>
          </a:xfrm>
          <a:prstGeom prst="rect">
            <a:avLst/>
          </a:prstGeom>
          <a:noFill/>
          <a:ln/>
        </p:spPr>
        <p:txBody>
          <a:bodyPr wrap="square" rtlCol="0" anchor="ctr"/>
          <a:lstStyle/>
          <a:p>
            <a:pPr marL="0" indent="0">
              <a:buNone/>
            </a:pPr>
            <a:r>
              <a:rPr lang="en-US" sz="1100" dirty="0">
                <a:solidFill>
                  <a:srgbClr val="9D97C4"/>
                </a:solidFill>
                <a:latin typeface="Calibri" pitchFamily="34" charset="0"/>
                <a:ea typeface="Calibri" pitchFamily="34" charset="-122"/>
                <a:cs typeface="Calibri" pitchFamily="34" charset="-120"/>
              </a:rPr>
              <a:t>Mahidol University International College  |  Trimester 3/2025-2026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200" b="1" dirty="0">
                <a:solidFill>
                  <a:srgbClr val="1E1B33"/>
                </a:solidFill>
                <a:latin typeface="Cambria" pitchFamily="34" charset="0"/>
                <a:ea typeface="Cambria" pitchFamily="34" charset="-122"/>
                <a:cs typeface="Cambria" pitchFamily="34" charset="-120"/>
              </a:rPr>
              <a:t>The Trust Behind Every Message</a:t>
            </a:r>
            <a:endParaRPr lang="en-US" sz="3200" dirty="0"/>
          </a:p>
        </p:txBody>
      </p:sp>
      <p:sp>
        <p:nvSpPr>
          <p:cNvPr id="3" name="Text 1"/>
          <p:cNvSpPr/>
          <p:nvPr/>
        </p:nvSpPr>
        <p:spPr>
          <a:xfrm>
            <a:off x="548640" y="1051560"/>
            <a:ext cx="10515600" cy="457200"/>
          </a:xfrm>
          <a:prstGeom prst="rect">
            <a:avLst/>
          </a:prstGeom>
          <a:noFill/>
          <a:ln/>
        </p:spPr>
        <p:txBody>
          <a:bodyPr wrap="square" rtlCol="0" anchor="ctr"/>
          <a:lstStyle/>
          <a:p>
            <a:pPr marL="0" indent="0">
              <a:buNone/>
            </a:pPr>
            <a:r>
              <a:rPr lang="en-US" sz="1400" dirty="0">
                <a:solidFill>
                  <a:srgbClr val="6B6783"/>
                </a:solidFill>
                <a:latin typeface="Calibri" pitchFamily="34" charset="0"/>
                <a:ea typeface="Calibri" pitchFamily="34" charset="-122"/>
                <a:cs typeface="Calibri" pitchFamily="34" charset="-120"/>
              </a:rPr>
              <a:t>Networks move data; cryptography keeps it confidential, unaltered, and exclusive to the intended receiver.</a:t>
            </a:r>
            <a:endParaRPr lang="en-US" sz="1400" dirty="0"/>
          </a:p>
        </p:txBody>
      </p:sp>
      <p:sp>
        <p:nvSpPr>
          <p:cNvPr id="4" name="Shape 2"/>
          <p:cNvSpPr/>
          <p:nvPr/>
        </p:nvSpPr>
        <p:spPr>
          <a:xfrm>
            <a:off x="548640" y="1828800"/>
            <a:ext cx="3611880" cy="2286000"/>
          </a:xfrm>
          <a:prstGeom prst="roundRect">
            <a:avLst>
              <a:gd name="adj" fmla="val 4800"/>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5" name="Shape 3"/>
          <p:cNvSpPr/>
          <p:nvPr/>
        </p:nvSpPr>
        <p:spPr>
          <a:xfrm>
            <a:off x="822960" y="2103120"/>
            <a:ext cx="640080" cy="640080"/>
          </a:xfrm>
          <a:prstGeom prst="ellipse">
            <a:avLst/>
          </a:prstGeom>
          <a:solidFill>
            <a:srgbClr val="FFFFFF"/>
          </a:solidFill>
          <a:ln/>
        </p:spPr>
        <p:txBody>
          <a:bodyPr/>
          <a:lstStyle/>
          <a:p>
            <a:endParaRPr lang="en-TH"/>
          </a:p>
        </p:txBody>
      </p:sp>
      <p:pic>
        <p:nvPicPr>
          <p:cNvPr id="6" name="Image 0" descr="preencoded.png"/>
          <p:cNvPicPr>
            <a:picLocks noChangeAspect="1"/>
          </p:cNvPicPr>
          <p:nvPr/>
        </p:nvPicPr>
        <p:blipFill>
          <a:blip r:embed="rId3"/>
          <a:stretch>
            <a:fillRect/>
          </a:stretch>
        </p:blipFill>
        <p:spPr>
          <a:xfrm>
            <a:off x="989381" y="2269541"/>
            <a:ext cx="307238" cy="307238"/>
          </a:xfrm>
          <a:prstGeom prst="rect">
            <a:avLst/>
          </a:prstGeom>
        </p:spPr>
      </p:pic>
      <p:sp>
        <p:nvSpPr>
          <p:cNvPr id="7" name="Text 4"/>
          <p:cNvSpPr/>
          <p:nvPr/>
        </p:nvSpPr>
        <p:spPr>
          <a:xfrm>
            <a:off x="822960" y="2880360"/>
            <a:ext cx="3063240" cy="365760"/>
          </a:xfrm>
          <a:prstGeom prst="rect">
            <a:avLst/>
          </a:prstGeom>
          <a:noFill/>
          <a:ln/>
        </p:spPr>
        <p:txBody>
          <a:bodyPr wrap="square" rtlCol="0" anchor="ctr"/>
          <a:lstStyle/>
          <a:p>
            <a:pPr marL="0" indent="0">
              <a:buNone/>
            </a:pPr>
            <a:r>
              <a:rPr lang="en-US" sz="1600" b="1" dirty="0">
                <a:solidFill>
                  <a:srgbClr val="2A1B5D"/>
                </a:solidFill>
                <a:latin typeface="Calibri" pitchFamily="34" charset="0"/>
                <a:ea typeface="Calibri" pitchFamily="34" charset="-122"/>
                <a:cs typeface="Calibri" pitchFamily="34" charset="-120"/>
              </a:rPr>
              <a:t>Confidentiality</a:t>
            </a:r>
            <a:endParaRPr lang="en-US" sz="1600" dirty="0"/>
          </a:p>
        </p:txBody>
      </p:sp>
      <p:sp>
        <p:nvSpPr>
          <p:cNvPr id="8" name="Text 5"/>
          <p:cNvSpPr/>
          <p:nvPr/>
        </p:nvSpPr>
        <p:spPr>
          <a:xfrm>
            <a:off x="822960" y="3246120"/>
            <a:ext cx="3063240" cy="777240"/>
          </a:xfrm>
          <a:prstGeom prst="rect">
            <a:avLst/>
          </a:prstGeom>
          <a:noFill/>
          <a:ln/>
        </p:spPr>
        <p:txBody>
          <a:bodyPr wrap="square" rtlCol="0" anchor="ctr"/>
          <a:lstStyle/>
          <a:p>
            <a:pPr marL="0" indent="0">
              <a:buNone/>
            </a:pPr>
            <a:r>
              <a:rPr lang="en-US" sz="1200" dirty="0">
                <a:solidFill>
                  <a:srgbClr val="6B6783"/>
                </a:solidFill>
                <a:latin typeface="Calibri" pitchFamily="34" charset="0"/>
                <a:ea typeface="Calibri" pitchFamily="34" charset="-122"/>
                <a:cs typeface="Calibri" pitchFamily="34" charset="-120"/>
              </a:rPr>
              <a:t>Data is encrypted so interceptors along the path cannot read it.</a:t>
            </a:r>
            <a:endParaRPr lang="en-US" sz="1200" dirty="0"/>
          </a:p>
        </p:txBody>
      </p:sp>
      <p:sp>
        <p:nvSpPr>
          <p:cNvPr id="9" name="Shape 6"/>
          <p:cNvSpPr/>
          <p:nvPr/>
        </p:nvSpPr>
        <p:spPr>
          <a:xfrm>
            <a:off x="4389120" y="1828800"/>
            <a:ext cx="3611880" cy="2286000"/>
          </a:xfrm>
          <a:prstGeom prst="roundRect">
            <a:avLst>
              <a:gd name="adj" fmla="val 4800"/>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10" name="Shape 7"/>
          <p:cNvSpPr/>
          <p:nvPr/>
        </p:nvSpPr>
        <p:spPr>
          <a:xfrm>
            <a:off x="4663440" y="2103120"/>
            <a:ext cx="640080" cy="640080"/>
          </a:xfrm>
          <a:prstGeom prst="ellipse">
            <a:avLst/>
          </a:prstGeom>
          <a:solidFill>
            <a:srgbClr val="FFFFFF"/>
          </a:solidFill>
          <a:ln/>
        </p:spPr>
        <p:txBody>
          <a:bodyPr/>
          <a:lstStyle/>
          <a:p>
            <a:endParaRPr lang="en-TH"/>
          </a:p>
        </p:txBody>
      </p:sp>
      <p:pic>
        <p:nvPicPr>
          <p:cNvPr id="11" name="Image 1" descr="preencoded.png"/>
          <p:cNvPicPr>
            <a:picLocks noChangeAspect="1"/>
          </p:cNvPicPr>
          <p:nvPr/>
        </p:nvPicPr>
        <p:blipFill>
          <a:blip r:embed="rId4"/>
          <a:stretch>
            <a:fillRect/>
          </a:stretch>
        </p:blipFill>
        <p:spPr>
          <a:xfrm>
            <a:off x="4829861" y="2269541"/>
            <a:ext cx="307238" cy="307238"/>
          </a:xfrm>
          <a:prstGeom prst="rect">
            <a:avLst/>
          </a:prstGeom>
        </p:spPr>
      </p:pic>
      <p:sp>
        <p:nvSpPr>
          <p:cNvPr id="12" name="Text 8"/>
          <p:cNvSpPr/>
          <p:nvPr/>
        </p:nvSpPr>
        <p:spPr>
          <a:xfrm>
            <a:off x="4663440" y="2880360"/>
            <a:ext cx="3063240" cy="365760"/>
          </a:xfrm>
          <a:prstGeom prst="rect">
            <a:avLst/>
          </a:prstGeom>
          <a:noFill/>
          <a:ln/>
        </p:spPr>
        <p:txBody>
          <a:bodyPr wrap="square" rtlCol="0" anchor="ctr"/>
          <a:lstStyle/>
          <a:p>
            <a:pPr marL="0" indent="0">
              <a:buNone/>
            </a:pPr>
            <a:r>
              <a:rPr lang="en-US" sz="1600" b="1" dirty="0">
                <a:solidFill>
                  <a:srgbClr val="2A1B5D"/>
                </a:solidFill>
                <a:latin typeface="Calibri" pitchFamily="34" charset="0"/>
                <a:ea typeface="Calibri" pitchFamily="34" charset="-122"/>
                <a:cs typeface="Calibri" pitchFamily="34" charset="-120"/>
              </a:rPr>
              <a:t>Integrity</a:t>
            </a:r>
            <a:endParaRPr lang="en-US" sz="1600" dirty="0"/>
          </a:p>
        </p:txBody>
      </p:sp>
      <p:sp>
        <p:nvSpPr>
          <p:cNvPr id="13" name="Text 9"/>
          <p:cNvSpPr/>
          <p:nvPr/>
        </p:nvSpPr>
        <p:spPr>
          <a:xfrm>
            <a:off x="4663440" y="3246120"/>
            <a:ext cx="3063240" cy="777240"/>
          </a:xfrm>
          <a:prstGeom prst="rect">
            <a:avLst/>
          </a:prstGeom>
          <a:noFill/>
          <a:ln/>
        </p:spPr>
        <p:txBody>
          <a:bodyPr wrap="square" rtlCol="0" anchor="ctr"/>
          <a:lstStyle/>
          <a:p>
            <a:pPr marL="0" indent="0">
              <a:buNone/>
            </a:pPr>
            <a:r>
              <a:rPr lang="en-US" sz="1200" dirty="0">
                <a:solidFill>
                  <a:srgbClr val="6B6783"/>
                </a:solidFill>
                <a:latin typeface="Calibri" pitchFamily="34" charset="0"/>
                <a:ea typeface="Calibri" pitchFamily="34" charset="-122"/>
                <a:cs typeface="Calibri" pitchFamily="34" charset="-120"/>
              </a:rPr>
              <a:t>Tampering or corruption in transit can be detected.</a:t>
            </a:r>
            <a:endParaRPr lang="en-US" sz="1200" dirty="0"/>
          </a:p>
        </p:txBody>
      </p:sp>
      <p:sp>
        <p:nvSpPr>
          <p:cNvPr id="14" name="Shape 10"/>
          <p:cNvSpPr/>
          <p:nvPr/>
        </p:nvSpPr>
        <p:spPr>
          <a:xfrm>
            <a:off x="8229600" y="1828800"/>
            <a:ext cx="3611880" cy="2286000"/>
          </a:xfrm>
          <a:prstGeom prst="roundRect">
            <a:avLst>
              <a:gd name="adj" fmla="val 4800"/>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15" name="Shape 11"/>
          <p:cNvSpPr/>
          <p:nvPr/>
        </p:nvSpPr>
        <p:spPr>
          <a:xfrm>
            <a:off x="8503920" y="2103120"/>
            <a:ext cx="640080" cy="640080"/>
          </a:xfrm>
          <a:prstGeom prst="ellipse">
            <a:avLst/>
          </a:prstGeom>
          <a:solidFill>
            <a:srgbClr val="FFFFFF"/>
          </a:solidFill>
          <a:ln/>
        </p:spPr>
        <p:txBody>
          <a:bodyPr/>
          <a:lstStyle/>
          <a:p>
            <a:endParaRPr lang="en-TH"/>
          </a:p>
        </p:txBody>
      </p:sp>
      <p:pic>
        <p:nvPicPr>
          <p:cNvPr id="16" name="Image 2" descr="preencoded.png"/>
          <p:cNvPicPr>
            <a:picLocks noChangeAspect="1"/>
          </p:cNvPicPr>
          <p:nvPr/>
        </p:nvPicPr>
        <p:blipFill>
          <a:blip r:embed="rId5"/>
          <a:stretch>
            <a:fillRect/>
          </a:stretch>
        </p:blipFill>
        <p:spPr>
          <a:xfrm>
            <a:off x="8670341" y="2269541"/>
            <a:ext cx="307238" cy="307238"/>
          </a:xfrm>
          <a:prstGeom prst="rect">
            <a:avLst/>
          </a:prstGeom>
        </p:spPr>
      </p:pic>
      <p:sp>
        <p:nvSpPr>
          <p:cNvPr id="17" name="Text 12"/>
          <p:cNvSpPr/>
          <p:nvPr/>
        </p:nvSpPr>
        <p:spPr>
          <a:xfrm>
            <a:off x="8503920" y="2880360"/>
            <a:ext cx="3063240" cy="365760"/>
          </a:xfrm>
          <a:prstGeom prst="rect">
            <a:avLst/>
          </a:prstGeom>
          <a:noFill/>
          <a:ln/>
        </p:spPr>
        <p:txBody>
          <a:bodyPr wrap="square" rtlCol="0" anchor="ctr"/>
          <a:lstStyle/>
          <a:p>
            <a:pPr marL="0" indent="0">
              <a:buNone/>
            </a:pPr>
            <a:r>
              <a:rPr lang="en-US" sz="1600" b="1" dirty="0">
                <a:solidFill>
                  <a:srgbClr val="2A1B5D"/>
                </a:solidFill>
                <a:latin typeface="Calibri" pitchFamily="34" charset="0"/>
                <a:ea typeface="Calibri" pitchFamily="34" charset="-122"/>
                <a:cs typeface="Calibri" pitchFamily="34" charset="-120"/>
              </a:rPr>
              <a:t>Mathematical Trust</a:t>
            </a:r>
            <a:endParaRPr lang="en-US" sz="1600" dirty="0"/>
          </a:p>
        </p:txBody>
      </p:sp>
      <p:sp>
        <p:nvSpPr>
          <p:cNvPr id="18" name="Text 13"/>
          <p:cNvSpPr/>
          <p:nvPr/>
        </p:nvSpPr>
        <p:spPr>
          <a:xfrm>
            <a:off x="8503920" y="3246120"/>
            <a:ext cx="3063240" cy="777240"/>
          </a:xfrm>
          <a:prstGeom prst="rect">
            <a:avLst/>
          </a:prstGeom>
          <a:noFill/>
          <a:ln/>
        </p:spPr>
        <p:txBody>
          <a:bodyPr wrap="square" rtlCol="0" anchor="ctr"/>
          <a:lstStyle/>
          <a:p>
            <a:pPr marL="0" indent="0">
              <a:buNone/>
            </a:pPr>
            <a:r>
              <a:rPr lang="en-US" sz="1200" dirty="0">
                <a:solidFill>
                  <a:srgbClr val="6B6783"/>
                </a:solidFill>
                <a:latin typeface="Calibri" pitchFamily="34" charset="0"/>
                <a:ea typeface="Calibri" pitchFamily="34" charset="-122"/>
                <a:cs typeface="Calibri" pitchFamily="34" charset="-120"/>
              </a:rPr>
              <a:t>Security rests on problems that are easy to set, hard to reverse — without the key.</a:t>
            </a:r>
            <a:endParaRPr lang="en-US" sz="1200" dirty="0"/>
          </a:p>
        </p:txBody>
      </p:sp>
      <p:sp>
        <p:nvSpPr>
          <p:cNvPr id="19" name="Shape 14"/>
          <p:cNvSpPr/>
          <p:nvPr/>
        </p:nvSpPr>
        <p:spPr>
          <a:xfrm>
            <a:off x="548640" y="4434840"/>
            <a:ext cx="11064240" cy="1737360"/>
          </a:xfrm>
          <a:prstGeom prst="roundRect">
            <a:avLst>
              <a:gd name="adj" fmla="val 6316"/>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20" name="Text 15"/>
          <p:cNvSpPr/>
          <p:nvPr/>
        </p:nvSpPr>
        <p:spPr>
          <a:xfrm>
            <a:off x="914400" y="4617720"/>
            <a:ext cx="10332720" cy="13716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Today's puzzle: every standard in use — AES, RSA, ECC — is built on math problems that classical computers cannot solve in practical time (decades to millennia). Quantum computers threaten to change that timeline dramatically.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1B33"/>
                </a:solidFill>
                <a:latin typeface="Cambria" pitchFamily="34" charset="0"/>
                <a:ea typeface="Cambria" pitchFamily="34" charset="-122"/>
                <a:cs typeface="Cambria" pitchFamily="34" charset="-120"/>
              </a:rPr>
              <a:t>Symmetric Cryptography: One Shared Key</a:t>
            </a:r>
            <a:endParaRPr lang="en-US" sz="3000" dirty="0"/>
          </a:p>
        </p:txBody>
      </p:sp>
      <p:sp>
        <p:nvSpPr>
          <p:cNvPr id="3" name="Shape 1"/>
          <p:cNvSpPr/>
          <p:nvPr/>
        </p:nvSpPr>
        <p:spPr>
          <a:xfrm>
            <a:off x="640080" y="1371600"/>
            <a:ext cx="822960" cy="822960"/>
          </a:xfrm>
          <a:prstGeom prst="ellipse">
            <a:avLst/>
          </a:prstGeom>
          <a:solidFill>
            <a:srgbClr val="F4F2FB"/>
          </a:solidFill>
          <a:ln/>
        </p:spPr>
        <p:txBody>
          <a:bodyPr/>
          <a:lstStyle/>
          <a:p>
            <a:endParaRPr lang="en-TH"/>
          </a:p>
        </p:txBody>
      </p:sp>
      <p:pic>
        <p:nvPicPr>
          <p:cNvPr id="4" name="Image 0" descr="preencoded.png"/>
          <p:cNvPicPr>
            <a:picLocks noChangeAspect="1"/>
          </p:cNvPicPr>
          <p:nvPr/>
        </p:nvPicPr>
        <p:blipFill>
          <a:blip r:embed="rId3"/>
          <a:stretch>
            <a:fillRect/>
          </a:stretch>
        </p:blipFill>
        <p:spPr>
          <a:xfrm>
            <a:off x="854050" y="1585570"/>
            <a:ext cx="395021" cy="395021"/>
          </a:xfrm>
          <a:prstGeom prst="rect">
            <a:avLst/>
          </a:prstGeom>
        </p:spPr>
      </p:pic>
      <p:sp>
        <p:nvSpPr>
          <p:cNvPr id="5" name="Text 2"/>
          <p:cNvSpPr/>
          <p:nvPr/>
        </p:nvSpPr>
        <p:spPr>
          <a:xfrm>
            <a:off x="1691640" y="1325880"/>
            <a:ext cx="4846320" cy="1463040"/>
          </a:xfrm>
          <a:prstGeom prst="rect">
            <a:avLst/>
          </a:prstGeom>
          <a:noFill/>
          <a:ln/>
        </p:spPr>
        <p:txBody>
          <a:bodyPr wrap="square" rtlCol="0" anchor="ctr"/>
          <a:lstStyle/>
          <a:p>
            <a:pPr marL="0" indent="0">
              <a:buNone/>
            </a:pPr>
            <a:r>
              <a:rPr lang="en-US" sz="1300" i="1" dirty="0">
                <a:solidFill>
                  <a:srgbClr val="6B6783"/>
                </a:solidFill>
                <a:latin typeface="Calibri" pitchFamily="34" charset="0"/>
                <a:ea typeface="Calibri" pitchFamily="34" charset="-122"/>
                <a:cs typeface="Calibri" pitchFamily="34" charset="-120"/>
              </a:rPr>
              <a:t>Analogy: Lock a message in a chest, send the chest, then send the key through a separate, more secure channel. One key both locks and unlocks.</a:t>
            </a:r>
            <a:endParaRPr lang="en-US" sz="1300" dirty="0"/>
          </a:p>
        </p:txBody>
      </p:sp>
      <p:sp>
        <p:nvSpPr>
          <p:cNvPr id="6" name="Shape 3"/>
          <p:cNvSpPr/>
          <p:nvPr/>
        </p:nvSpPr>
        <p:spPr>
          <a:xfrm>
            <a:off x="640080" y="2971800"/>
            <a:ext cx="5897880" cy="3108960"/>
          </a:xfrm>
          <a:prstGeom prst="roundRect">
            <a:avLst>
              <a:gd name="adj" fmla="val 3529"/>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7" name="Text 4"/>
          <p:cNvSpPr/>
          <p:nvPr/>
        </p:nvSpPr>
        <p:spPr>
          <a:xfrm>
            <a:off x="914400" y="3200400"/>
            <a:ext cx="5486400" cy="411480"/>
          </a:xfrm>
          <a:prstGeom prst="rect">
            <a:avLst/>
          </a:prstGeom>
          <a:noFill/>
          <a:ln/>
        </p:spPr>
        <p:txBody>
          <a:bodyPr wrap="square" rtlCol="0" anchor="ctr"/>
          <a:lstStyle/>
          <a:p>
            <a:pPr marL="0" indent="0">
              <a:buNone/>
            </a:pPr>
            <a:r>
              <a:rPr lang="en-US" sz="1600" b="1" dirty="0">
                <a:solidFill>
                  <a:srgbClr val="2A1B5D"/>
                </a:solidFill>
                <a:latin typeface="Calibri" pitchFamily="34" charset="0"/>
                <a:ea typeface="Calibri" pitchFamily="34" charset="-122"/>
                <a:cs typeface="Calibri" pitchFamily="34" charset="-120"/>
              </a:rPr>
              <a:t>AES — Advanced Encryption Standard</a:t>
            </a:r>
            <a:endParaRPr lang="en-US" sz="1600" dirty="0"/>
          </a:p>
        </p:txBody>
      </p:sp>
      <p:sp>
        <p:nvSpPr>
          <p:cNvPr id="8" name="Text 5"/>
          <p:cNvSpPr/>
          <p:nvPr/>
        </p:nvSpPr>
        <p:spPr>
          <a:xfrm>
            <a:off x="914400" y="3657600"/>
            <a:ext cx="5394960" cy="2286000"/>
          </a:xfrm>
          <a:prstGeom prst="rect">
            <a:avLst/>
          </a:prstGeom>
          <a:noFill/>
          <a:ln/>
        </p:spPr>
        <p:txBody>
          <a:bodyPr wrap="square" rtlCol="0" anchor="ctr"/>
          <a:lstStyle/>
          <a:p>
            <a:pPr marL="342900" indent="-342900">
              <a:spcAft>
                <a:spcPts val="800"/>
              </a:spcAft>
              <a:buSzPct val="100000"/>
              <a:buChar char="•"/>
            </a:pPr>
            <a:r>
              <a:rPr lang="en-US" sz="1250" dirty="0">
                <a:solidFill>
                  <a:srgbClr val="1E1B33"/>
                </a:solidFill>
                <a:latin typeface="Calibri" pitchFamily="34" charset="0"/>
                <a:ea typeface="Calibri" pitchFamily="34" charset="-122"/>
                <a:cs typeface="Calibri" pitchFamily="34" charset="-120"/>
              </a:rPr>
              <a:t>Operates on 128-bit blocks across multiple rounds: SubBytes, ShiftRows, MixColumns, AddRoundKey</a:t>
            </a:r>
            <a:endParaRPr lang="en-US" sz="1250" dirty="0"/>
          </a:p>
          <a:p>
            <a:pPr marL="342900" indent="-342900">
              <a:spcAft>
                <a:spcPts val="800"/>
              </a:spcAft>
              <a:buSzPct val="100000"/>
              <a:buChar char="•"/>
            </a:pPr>
            <a:r>
              <a:rPr lang="en-US" sz="1250" dirty="0">
                <a:solidFill>
                  <a:srgbClr val="1E1B33"/>
                </a:solidFill>
                <a:latin typeface="Calibri" pitchFamily="34" charset="0"/>
                <a:ea typeface="Calibri" pitchFamily="34" charset="-122"/>
                <a:cs typeface="Calibri" pitchFamily="34" charset="-120"/>
              </a:rPr>
              <a:t>Creates an avalanche effect — one bit change randomizes the entire output</a:t>
            </a:r>
            <a:endParaRPr lang="en-US" sz="1250" dirty="0"/>
          </a:p>
          <a:p>
            <a:pPr marL="342900" indent="-342900">
              <a:spcAft>
                <a:spcPts val="800"/>
              </a:spcAft>
              <a:buSzPct val="100000"/>
              <a:buChar char="•"/>
            </a:pPr>
            <a:r>
              <a:rPr lang="en-US" sz="1250" dirty="0">
                <a:solidFill>
                  <a:srgbClr val="1E1B33"/>
                </a:solidFill>
                <a:latin typeface="Calibri" pitchFamily="34" charset="0"/>
                <a:ea typeface="Calibri" pitchFamily="34" charset="-122"/>
                <a:cs typeface="Calibri" pitchFamily="34" charset="-120"/>
              </a:rPr>
              <a:t>Deployed as AES-128 or AES-256</a:t>
            </a:r>
            <a:endParaRPr lang="en-US" sz="1250" dirty="0"/>
          </a:p>
          <a:p>
            <a:pPr marL="342900" indent="-342900">
              <a:spcAft>
                <a:spcPts val="800"/>
              </a:spcAft>
              <a:buSzPct val="100000"/>
              <a:buChar char="•"/>
            </a:pPr>
            <a:r>
              <a:rPr lang="en-US" sz="1250" dirty="0">
                <a:solidFill>
                  <a:srgbClr val="1E1B33"/>
                </a:solidFill>
                <a:latin typeface="Calibri" pitchFamily="34" charset="0"/>
                <a:ea typeface="Calibri" pitchFamily="34" charset="-122"/>
                <a:cs typeface="Calibri" pitchFamily="34" charset="-120"/>
              </a:rPr>
              <a:t>No known shortcut beats brute force against AES-256 classically</a:t>
            </a:r>
            <a:endParaRPr lang="en-US" sz="1250" dirty="0"/>
          </a:p>
        </p:txBody>
      </p:sp>
      <p:sp>
        <p:nvSpPr>
          <p:cNvPr id="9" name="Shape 6"/>
          <p:cNvSpPr/>
          <p:nvPr/>
        </p:nvSpPr>
        <p:spPr>
          <a:xfrm>
            <a:off x="6766560" y="2971800"/>
            <a:ext cx="4846320" cy="3108960"/>
          </a:xfrm>
          <a:prstGeom prst="roundRect">
            <a:avLst>
              <a:gd name="adj" fmla="val 3529"/>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10" name="Text 7"/>
          <p:cNvSpPr/>
          <p:nvPr/>
        </p:nvSpPr>
        <p:spPr>
          <a:xfrm>
            <a:off x="7040880" y="3200400"/>
            <a:ext cx="43891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It's Strong (Today)</a:t>
            </a:r>
            <a:endParaRPr lang="en-US" sz="1500" dirty="0"/>
          </a:p>
        </p:txBody>
      </p:sp>
      <p:sp>
        <p:nvSpPr>
          <p:cNvPr id="11" name="Text 8"/>
          <p:cNvSpPr/>
          <p:nvPr/>
        </p:nvSpPr>
        <p:spPr>
          <a:xfrm>
            <a:off x="7040880" y="3657600"/>
            <a:ext cx="4389120" cy="1188720"/>
          </a:xfrm>
          <a:prstGeom prst="rect">
            <a:avLst/>
          </a:prstGeom>
          <a:noFill/>
          <a:ln/>
        </p:spPr>
        <p:txBody>
          <a:bodyPr wrap="square" rtlCol="0" anchor="ctr"/>
          <a:lstStyle/>
          <a:p>
            <a:pPr marL="0" indent="0">
              <a:buNone/>
            </a:pPr>
            <a:r>
              <a:rPr lang="en-US" sz="1250" dirty="0">
                <a:solidFill>
                  <a:srgbClr val="E5E2F7"/>
                </a:solidFill>
                <a:latin typeface="Calibri" pitchFamily="34" charset="0"/>
                <a:ea typeface="Calibri" pitchFamily="34" charset="-122"/>
                <a:cs typeface="Calibri" pitchFamily="34" charset="-120"/>
              </a:rPr>
              <a:t>Brute-forcing AES-256 requires astronomically more attempts than there are atoms to spend on the search — secure against any classical supercomputer in existence.</a:t>
            </a:r>
            <a:endParaRPr lang="en-US" sz="1250" dirty="0"/>
          </a:p>
        </p:txBody>
      </p:sp>
      <p:sp>
        <p:nvSpPr>
          <p:cNvPr id="12" name="Text 9"/>
          <p:cNvSpPr/>
          <p:nvPr/>
        </p:nvSpPr>
        <p:spPr>
          <a:xfrm>
            <a:off x="7040880" y="5029200"/>
            <a:ext cx="4389120" cy="822960"/>
          </a:xfrm>
          <a:prstGeom prst="rect">
            <a:avLst/>
          </a:prstGeom>
          <a:noFill/>
          <a:ln/>
        </p:spPr>
        <p:txBody>
          <a:bodyPr wrap="square" rtlCol="0" anchor="ctr"/>
          <a:lstStyle/>
          <a:p>
            <a:pPr marL="0" indent="0">
              <a:buNone/>
            </a:pPr>
            <a:r>
              <a:rPr lang="en-US" sz="1200" i="1" dirty="0">
                <a:solidFill>
                  <a:srgbClr val="00C2A8"/>
                </a:solidFill>
                <a:latin typeface="Calibri" pitchFamily="34" charset="0"/>
                <a:ea typeface="Calibri" pitchFamily="34" charset="-122"/>
                <a:cs typeface="Calibri" pitchFamily="34" charset="-120"/>
              </a:rPr>
              <a:t>Shared-key model: fast, efficient — but key distribution is the weak link.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640080"/>
          </a:xfrm>
          <a:prstGeom prst="rect">
            <a:avLst/>
          </a:prstGeom>
          <a:noFill/>
          <a:ln/>
        </p:spPr>
        <p:txBody>
          <a:bodyPr wrap="square" rtlCol="0" anchor="ctr"/>
          <a:lstStyle/>
          <a:p>
            <a:pPr marL="0" indent="0">
              <a:buNone/>
            </a:pPr>
            <a:r>
              <a:rPr lang="en-US" sz="2800" b="1" dirty="0">
                <a:solidFill>
                  <a:srgbClr val="1E1B33"/>
                </a:solidFill>
                <a:latin typeface="Cambria" pitchFamily="34" charset="0"/>
                <a:ea typeface="Cambria" pitchFamily="34" charset="-122"/>
                <a:cs typeface="Cambria" pitchFamily="34" charset="-120"/>
              </a:rPr>
              <a:t>Asymmetric Cryptography: Public &amp; Private Keys</a:t>
            </a:r>
            <a:endParaRPr lang="en-US" sz="2800" dirty="0"/>
          </a:p>
        </p:txBody>
      </p:sp>
      <p:sp>
        <p:nvSpPr>
          <p:cNvPr id="3" name="Text 1"/>
          <p:cNvSpPr/>
          <p:nvPr/>
        </p:nvSpPr>
        <p:spPr>
          <a:xfrm>
            <a:off x="548640" y="960120"/>
            <a:ext cx="10972800" cy="457200"/>
          </a:xfrm>
          <a:prstGeom prst="rect">
            <a:avLst/>
          </a:prstGeom>
          <a:noFill/>
          <a:ln/>
        </p:spPr>
        <p:txBody>
          <a:bodyPr wrap="square" rtlCol="0" anchor="ctr"/>
          <a:lstStyle/>
          <a:p>
            <a:pPr marL="0" indent="0">
              <a:buNone/>
            </a:pPr>
            <a:r>
              <a:rPr lang="en-US" sz="1300" dirty="0">
                <a:solidFill>
                  <a:srgbClr val="6B6783"/>
                </a:solidFill>
                <a:latin typeface="Calibri" pitchFamily="34" charset="0"/>
                <a:ea typeface="Calibri" pitchFamily="34" charset="-122"/>
                <a:cs typeface="Calibri" pitchFamily="34" charset="-120"/>
              </a:rPr>
              <a:t>A public key locks; only the matching private key can unlock. Security relies on “trapdoor functions” — easy forward, infeasible in reverse.</a:t>
            </a:r>
            <a:endParaRPr lang="en-US" sz="1300" dirty="0"/>
          </a:p>
        </p:txBody>
      </p:sp>
      <p:sp>
        <p:nvSpPr>
          <p:cNvPr id="4" name="Shape 2"/>
          <p:cNvSpPr/>
          <p:nvPr/>
        </p:nvSpPr>
        <p:spPr>
          <a:xfrm>
            <a:off x="548640" y="1600200"/>
            <a:ext cx="5440680" cy="4526280"/>
          </a:xfrm>
          <a:prstGeom prst="roundRect">
            <a:avLst>
              <a:gd name="adj" fmla="val 2424"/>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5" name="Shape 3"/>
          <p:cNvSpPr/>
          <p:nvPr/>
        </p:nvSpPr>
        <p:spPr>
          <a:xfrm>
            <a:off x="822960" y="1828800"/>
            <a:ext cx="594360" cy="594360"/>
          </a:xfrm>
          <a:prstGeom prst="ellipse">
            <a:avLst/>
          </a:prstGeom>
          <a:solidFill>
            <a:srgbClr val="FFFFFF"/>
          </a:solidFill>
          <a:ln/>
        </p:spPr>
        <p:txBody>
          <a:bodyPr/>
          <a:lstStyle/>
          <a:p>
            <a:endParaRPr lang="en-TH"/>
          </a:p>
        </p:txBody>
      </p:sp>
      <p:pic>
        <p:nvPicPr>
          <p:cNvPr id="6" name="Image 0" descr="preencoded.png"/>
          <p:cNvPicPr>
            <a:picLocks noChangeAspect="1"/>
          </p:cNvPicPr>
          <p:nvPr/>
        </p:nvPicPr>
        <p:blipFill>
          <a:blip r:embed="rId3"/>
          <a:stretch>
            <a:fillRect/>
          </a:stretch>
        </p:blipFill>
        <p:spPr>
          <a:xfrm>
            <a:off x="977494" y="1983334"/>
            <a:ext cx="285293" cy="285293"/>
          </a:xfrm>
          <a:prstGeom prst="rect">
            <a:avLst/>
          </a:prstGeom>
        </p:spPr>
      </p:pic>
      <p:sp>
        <p:nvSpPr>
          <p:cNvPr id="7" name="Text 4"/>
          <p:cNvSpPr/>
          <p:nvPr/>
        </p:nvSpPr>
        <p:spPr>
          <a:xfrm>
            <a:off x="1554480" y="1874520"/>
            <a:ext cx="4114800" cy="457200"/>
          </a:xfrm>
          <a:prstGeom prst="rect">
            <a:avLst/>
          </a:prstGeom>
          <a:noFill/>
          <a:ln/>
        </p:spPr>
        <p:txBody>
          <a:bodyPr wrap="square" rtlCol="0" anchor="ctr"/>
          <a:lstStyle/>
          <a:p>
            <a:pPr marL="0" indent="0">
              <a:buNone/>
            </a:pPr>
            <a:r>
              <a:rPr lang="en-US" sz="1800" b="1" dirty="0">
                <a:solidFill>
                  <a:srgbClr val="2A1B5D"/>
                </a:solidFill>
                <a:latin typeface="Calibri" pitchFamily="34" charset="0"/>
                <a:ea typeface="Calibri" pitchFamily="34" charset="-122"/>
                <a:cs typeface="Calibri" pitchFamily="34" charset="-120"/>
              </a:rPr>
              <a:t>RSA</a:t>
            </a:r>
            <a:endParaRPr lang="en-US" sz="1800" dirty="0"/>
          </a:p>
        </p:txBody>
      </p:sp>
      <p:sp>
        <p:nvSpPr>
          <p:cNvPr id="8" name="Text 5"/>
          <p:cNvSpPr/>
          <p:nvPr/>
        </p:nvSpPr>
        <p:spPr>
          <a:xfrm>
            <a:off x="1554480" y="2286000"/>
            <a:ext cx="4114800" cy="320040"/>
          </a:xfrm>
          <a:prstGeom prst="rect">
            <a:avLst/>
          </a:prstGeom>
          <a:noFill/>
          <a:ln/>
        </p:spPr>
        <p:txBody>
          <a:bodyPr wrap="square" rtlCol="0" anchor="ctr"/>
          <a:lstStyle/>
          <a:p>
            <a:pPr marL="0" indent="0">
              <a:buNone/>
            </a:pPr>
            <a:r>
              <a:rPr lang="en-US" sz="1200" i="1" dirty="0">
                <a:solidFill>
                  <a:srgbClr val="6B6783"/>
                </a:solidFill>
                <a:latin typeface="Calibri" pitchFamily="34" charset="0"/>
                <a:ea typeface="Calibri" pitchFamily="34" charset="-122"/>
                <a:cs typeface="Calibri" pitchFamily="34" charset="-120"/>
              </a:rPr>
              <a:t>Integer Factorization Problem</a:t>
            </a:r>
            <a:endParaRPr lang="en-US" sz="1200" dirty="0"/>
          </a:p>
        </p:txBody>
      </p:sp>
      <p:sp>
        <p:nvSpPr>
          <p:cNvPr id="9" name="Text 6"/>
          <p:cNvSpPr/>
          <p:nvPr/>
        </p:nvSpPr>
        <p:spPr>
          <a:xfrm>
            <a:off x="822960" y="2743200"/>
            <a:ext cx="4937760" cy="914400"/>
          </a:xfrm>
          <a:prstGeom prst="rect">
            <a:avLst/>
          </a:prstGeom>
          <a:noFill/>
          <a:ln/>
        </p:spPr>
        <p:txBody>
          <a:bodyPr wrap="square" rtlCol="0" anchor="ctr"/>
          <a:lstStyle/>
          <a:p>
            <a:pPr marL="0" indent="0">
              <a:buNone/>
            </a:pPr>
            <a:r>
              <a:rPr lang="en-US" sz="1250" dirty="0">
                <a:solidFill>
                  <a:srgbClr val="1E1B33"/>
                </a:solidFill>
                <a:latin typeface="Calibri" pitchFamily="34" charset="0"/>
                <a:ea typeface="Calibri" pitchFamily="34" charset="-122"/>
                <a:cs typeface="Calibri" pitchFamily="34" charset="-120"/>
              </a:rPr>
              <a:t>Multiplying two huge primes is easy; factoring the result back apart is computationally infeasible for classical machines.</a:t>
            </a:r>
            <a:endParaRPr lang="en-US" sz="1250" dirty="0"/>
          </a:p>
        </p:txBody>
      </p:sp>
      <p:sp>
        <p:nvSpPr>
          <p:cNvPr id="10" name="Shape 7"/>
          <p:cNvSpPr/>
          <p:nvPr/>
        </p:nvSpPr>
        <p:spPr>
          <a:xfrm>
            <a:off x="822960" y="3749040"/>
            <a:ext cx="4937760" cy="2194560"/>
          </a:xfrm>
          <a:prstGeom prst="roundRect">
            <a:avLst>
              <a:gd name="adj" fmla="val 4167"/>
            </a:avLst>
          </a:prstGeom>
          <a:solidFill>
            <a:srgbClr val="FFFFFF"/>
          </a:solidFill>
          <a:ln/>
        </p:spPr>
        <p:txBody>
          <a:bodyPr/>
          <a:lstStyle/>
          <a:p>
            <a:endParaRPr lang="en-TH"/>
          </a:p>
        </p:txBody>
      </p:sp>
      <p:sp>
        <p:nvSpPr>
          <p:cNvPr id="11" name="Text 8"/>
          <p:cNvSpPr/>
          <p:nvPr/>
        </p:nvSpPr>
        <p:spPr>
          <a:xfrm>
            <a:off x="1005840" y="3886200"/>
            <a:ext cx="4572000" cy="274320"/>
          </a:xfrm>
          <a:prstGeom prst="rect">
            <a:avLst/>
          </a:prstGeom>
          <a:noFill/>
          <a:ln/>
        </p:spPr>
        <p:txBody>
          <a:bodyPr wrap="square"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Analogy</a:t>
            </a:r>
            <a:endParaRPr lang="en-US" sz="1100" dirty="0"/>
          </a:p>
        </p:txBody>
      </p:sp>
      <p:sp>
        <p:nvSpPr>
          <p:cNvPr id="12" name="Text 9"/>
          <p:cNvSpPr/>
          <p:nvPr/>
        </p:nvSpPr>
        <p:spPr>
          <a:xfrm>
            <a:off x="1005840" y="4160520"/>
            <a:ext cx="4572000" cy="1737360"/>
          </a:xfrm>
          <a:prstGeom prst="rect">
            <a:avLst/>
          </a:prstGeom>
          <a:noFill/>
          <a:ln/>
        </p:spPr>
        <p:txBody>
          <a:bodyPr wrap="square" rtlCol="0" anchor="ctr"/>
          <a:lstStyle/>
          <a:p>
            <a:pPr marL="0" indent="0">
              <a:buNone/>
            </a:pPr>
            <a:r>
              <a:rPr lang="en-US" sz="1150" dirty="0">
                <a:solidFill>
                  <a:srgbClr val="6B6783"/>
                </a:solidFill>
                <a:latin typeface="Calibri" pitchFamily="34" charset="0"/>
                <a:ea typeface="Calibri" pitchFamily="34" charset="-122"/>
                <a:cs typeface="Calibri" pitchFamily="34" charset="-120"/>
              </a:rPr>
              <a:t>Public key = a recipe for mixing two paint colors together. Anyone can mix paint that way. Private key = the only formula to separate the mixed color back into its originals, drop by drop.</a:t>
            </a:r>
            <a:endParaRPr lang="en-US" sz="1150" dirty="0"/>
          </a:p>
        </p:txBody>
      </p:sp>
      <p:sp>
        <p:nvSpPr>
          <p:cNvPr id="13" name="Shape 10"/>
          <p:cNvSpPr/>
          <p:nvPr/>
        </p:nvSpPr>
        <p:spPr>
          <a:xfrm>
            <a:off x="6172200" y="1600200"/>
            <a:ext cx="5440680" cy="4526280"/>
          </a:xfrm>
          <a:prstGeom prst="roundRect">
            <a:avLst>
              <a:gd name="adj" fmla="val 2424"/>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14" name="Shape 11"/>
          <p:cNvSpPr/>
          <p:nvPr/>
        </p:nvSpPr>
        <p:spPr>
          <a:xfrm>
            <a:off x="6446520" y="1828800"/>
            <a:ext cx="594360" cy="594360"/>
          </a:xfrm>
          <a:prstGeom prst="ellipse">
            <a:avLst/>
          </a:prstGeom>
          <a:solidFill>
            <a:srgbClr val="FFFFFF"/>
          </a:solidFill>
          <a:ln/>
        </p:spPr>
        <p:txBody>
          <a:bodyPr/>
          <a:lstStyle/>
          <a:p>
            <a:endParaRPr lang="en-TH"/>
          </a:p>
        </p:txBody>
      </p:sp>
      <p:pic>
        <p:nvPicPr>
          <p:cNvPr id="15" name="Image 1" descr="preencoded.png"/>
          <p:cNvPicPr>
            <a:picLocks noChangeAspect="1"/>
          </p:cNvPicPr>
          <p:nvPr/>
        </p:nvPicPr>
        <p:blipFill>
          <a:blip r:embed="rId4"/>
          <a:stretch>
            <a:fillRect/>
          </a:stretch>
        </p:blipFill>
        <p:spPr>
          <a:xfrm>
            <a:off x="6601054" y="1983334"/>
            <a:ext cx="285293" cy="285293"/>
          </a:xfrm>
          <a:prstGeom prst="rect">
            <a:avLst/>
          </a:prstGeom>
        </p:spPr>
      </p:pic>
      <p:sp>
        <p:nvSpPr>
          <p:cNvPr id="16" name="Text 12"/>
          <p:cNvSpPr/>
          <p:nvPr/>
        </p:nvSpPr>
        <p:spPr>
          <a:xfrm>
            <a:off x="7178040" y="1874520"/>
            <a:ext cx="4114800" cy="457200"/>
          </a:xfrm>
          <a:prstGeom prst="rect">
            <a:avLst/>
          </a:prstGeom>
          <a:noFill/>
          <a:ln/>
        </p:spPr>
        <p:txBody>
          <a:bodyPr wrap="square" rtlCol="0" anchor="ctr"/>
          <a:lstStyle/>
          <a:p>
            <a:pPr marL="0" indent="0">
              <a:buNone/>
            </a:pPr>
            <a:r>
              <a:rPr lang="en-US" sz="1800" b="1" dirty="0">
                <a:solidFill>
                  <a:srgbClr val="2A1B5D"/>
                </a:solidFill>
                <a:latin typeface="Calibri" pitchFamily="34" charset="0"/>
                <a:ea typeface="Calibri" pitchFamily="34" charset="-122"/>
                <a:cs typeface="Calibri" pitchFamily="34" charset="-120"/>
              </a:rPr>
              <a:t>ECC</a:t>
            </a:r>
            <a:endParaRPr lang="en-US" sz="1800" dirty="0"/>
          </a:p>
        </p:txBody>
      </p:sp>
      <p:sp>
        <p:nvSpPr>
          <p:cNvPr id="17" name="Text 13"/>
          <p:cNvSpPr/>
          <p:nvPr/>
        </p:nvSpPr>
        <p:spPr>
          <a:xfrm>
            <a:off x="7178040" y="2286000"/>
            <a:ext cx="4114800" cy="320040"/>
          </a:xfrm>
          <a:prstGeom prst="rect">
            <a:avLst/>
          </a:prstGeom>
          <a:noFill/>
          <a:ln/>
        </p:spPr>
        <p:txBody>
          <a:bodyPr wrap="square" rtlCol="0" anchor="ctr"/>
          <a:lstStyle/>
          <a:p>
            <a:pPr marL="0" indent="0">
              <a:buNone/>
            </a:pPr>
            <a:r>
              <a:rPr lang="en-US" sz="1200" i="1" dirty="0">
                <a:solidFill>
                  <a:srgbClr val="6B6783"/>
                </a:solidFill>
                <a:latin typeface="Calibri" pitchFamily="34" charset="0"/>
                <a:ea typeface="Calibri" pitchFamily="34" charset="-122"/>
                <a:cs typeface="Calibri" pitchFamily="34" charset="-120"/>
              </a:rPr>
              <a:t>Discrete Logarithm Problem</a:t>
            </a:r>
            <a:endParaRPr lang="en-US" sz="1200" dirty="0"/>
          </a:p>
        </p:txBody>
      </p:sp>
      <p:sp>
        <p:nvSpPr>
          <p:cNvPr id="18" name="Text 14"/>
          <p:cNvSpPr/>
          <p:nvPr/>
        </p:nvSpPr>
        <p:spPr>
          <a:xfrm>
            <a:off x="6446520" y="2743200"/>
            <a:ext cx="4937760" cy="914400"/>
          </a:xfrm>
          <a:prstGeom prst="rect">
            <a:avLst/>
          </a:prstGeom>
          <a:noFill/>
          <a:ln/>
        </p:spPr>
        <p:txBody>
          <a:bodyPr wrap="square" rtlCol="0" anchor="ctr"/>
          <a:lstStyle/>
          <a:p>
            <a:pPr marL="0" indent="0">
              <a:buNone/>
            </a:pPr>
            <a:r>
              <a:rPr lang="en-US" sz="1250" dirty="0">
                <a:solidFill>
                  <a:srgbClr val="1E1B33"/>
                </a:solidFill>
                <a:latin typeface="Calibri" pitchFamily="34" charset="0"/>
                <a:ea typeface="Calibri" pitchFamily="34" charset="-122"/>
                <a:cs typeface="Calibri" pitchFamily="34" charset="-120"/>
              </a:rPr>
              <a:t>Tracks points across elliptic curves (y² = x³ + ax + b) through repeated point addition — same security as RSA with far smaller keys.</a:t>
            </a:r>
            <a:endParaRPr lang="en-US" sz="1250" dirty="0"/>
          </a:p>
        </p:txBody>
      </p:sp>
      <p:sp>
        <p:nvSpPr>
          <p:cNvPr id="19" name="Shape 15"/>
          <p:cNvSpPr/>
          <p:nvPr/>
        </p:nvSpPr>
        <p:spPr>
          <a:xfrm>
            <a:off x="6446520" y="3749040"/>
            <a:ext cx="4937760" cy="2194560"/>
          </a:xfrm>
          <a:prstGeom prst="roundRect">
            <a:avLst>
              <a:gd name="adj" fmla="val 4167"/>
            </a:avLst>
          </a:prstGeom>
          <a:solidFill>
            <a:srgbClr val="FFFFFF"/>
          </a:solidFill>
          <a:ln/>
        </p:spPr>
        <p:txBody>
          <a:bodyPr/>
          <a:lstStyle/>
          <a:p>
            <a:endParaRPr lang="en-TH"/>
          </a:p>
        </p:txBody>
      </p:sp>
      <p:sp>
        <p:nvSpPr>
          <p:cNvPr id="20" name="Text 16"/>
          <p:cNvSpPr/>
          <p:nvPr/>
        </p:nvSpPr>
        <p:spPr>
          <a:xfrm>
            <a:off x="6629400" y="3886200"/>
            <a:ext cx="4572000" cy="274320"/>
          </a:xfrm>
          <a:prstGeom prst="rect">
            <a:avLst/>
          </a:prstGeom>
          <a:noFill/>
          <a:ln/>
        </p:spPr>
        <p:txBody>
          <a:bodyPr wrap="square" rtlCol="0" anchor="ctr"/>
          <a:lstStyle/>
          <a:p>
            <a:pPr marL="0" indent="0">
              <a:buNone/>
            </a:pPr>
            <a:r>
              <a:rPr lang="en-US" sz="1100" b="1" dirty="0">
                <a:solidFill>
                  <a:srgbClr val="00C2A8"/>
                </a:solidFill>
                <a:latin typeface="Calibri" pitchFamily="34" charset="0"/>
                <a:ea typeface="Calibri" pitchFamily="34" charset="-122"/>
                <a:cs typeface="Calibri" pitchFamily="34" charset="-120"/>
              </a:rPr>
              <a:t>Analogy</a:t>
            </a:r>
            <a:endParaRPr lang="en-US" sz="1100" dirty="0"/>
          </a:p>
        </p:txBody>
      </p:sp>
      <p:sp>
        <p:nvSpPr>
          <p:cNvPr id="21" name="Text 17"/>
          <p:cNvSpPr/>
          <p:nvPr/>
        </p:nvSpPr>
        <p:spPr>
          <a:xfrm>
            <a:off x="6629400" y="4160520"/>
            <a:ext cx="4572000" cy="1737360"/>
          </a:xfrm>
          <a:prstGeom prst="rect">
            <a:avLst/>
          </a:prstGeom>
          <a:noFill/>
          <a:ln/>
        </p:spPr>
        <p:txBody>
          <a:bodyPr wrap="square" rtlCol="0" anchor="ctr"/>
          <a:lstStyle/>
          <a:p>
            <a:pPr marL="0" indent="0">
              <a:buNone/>
            </a:pPr>
            <a:r>
              <a:rPr lang="en-US" sz="1150" dirty="0">
                <a:solidFill>
                  <a:srgbClr val="6B6783"/>
                </a:solidFill>
                <a:latin typeface="Calibri" pitchFamily="34" charset="0"/>
                <a:ea typeface="Calibri" pitchFamily="34" charset="-122"/>
                <a:cs typeface="Calibri" pitchFamily="34" charset="-120"/>
              </a:rPr>
              <a:t>A billiard ball is struck N times on a warped, curved table and lands somewhere unpredictable. Public key = where it stops. Private key = how many times it was struck.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0E2A"/>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Quantum Threat: A New Kind of Computation</a:t>
            </a:r>
            <a:endParaRPr lang="en-US" sz="2800" dirty="0"/>
          </a:p>
        </p:txBody>
      </p:sp>
      <p:sp>
        <p:nvSpPr>
          <p:cNvPr id="3" name="Text 1"/>
          <p:cNvSpPr/>
          <p:nvPr/>
        </p:nvSpPr>
        <p:spPr>
          <a:xfrm>
            <a:off x="548640" y="1051560"/>
            <a:ext cx="10789920" cy="457200"/>
          </a:xfrm>
          <a:prstGeom prst="rect">
            <a:avLst/>
          </a:prstGeom>
          <a:noFill/>
          <a:ln/>
        </p:spPr>
        <p:txBody>
          <a:bodyPr wrap="square" rtlCol="0" anchor="ctr"/>
          <a:lstStyle/>
          <a:p>
            <a:pPr marL="0" indent="0">
              <a:buNone/>
            </a:pPr>
            <a:r>
              <a:rPr lang="en-US" sz="1350" dirty="0">
                <a:solidFill>
                  <a:srgbClr val="CFCBEE"/>
                </a:solidFill>
                <a:latin typeface="Calibri" pitchFamily="34" charset="0"/>
                <a:ea typeface="Calibri" pitchFamily="34" charset="-122"/>
                <a:cs typeface="Calibri" pitchFamily="34" charset="-120"/>
              </a:rPr>
              <a:t>Classical bits are 0 or 1. Quantum bits (qubits) exploit physics itself to search vastly more possibilities at once.</a:t>
            </a:r>
            <a:endParaRPr lang="en-US" sz="1350" dirty="0"/>
          </a:p>
        </p:txBody>
      </p:sp>
      <p:sp>
        <p:nvSpPr>
          <p:cNvPr id="4" name="Shape 2"/>
          <p:cNvSpPr/>
          <p:nvPr/>
        </p:nvSpPr>
        <p:spPr>
          <a:xfrm>
            <a:off x="548640" y="1920240"/>
            <a:ext cx="3611880" cy="2377440"/>
          </a:xfrm>
          <a:prstGeom prst="roundRect">
            <a:avLst>
              <a:gd name="adj" fmla="val 4615"/>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5" name="Shape 3"/>
          <p:cNvSpPr/>
          <p:nvPr/>
        </p:nvSpPr>
        <p:spPr>
          <a:xfrm>
            <a:off x="822960" y="2194560"/>
            <a:ext cx="594360" cy="594360"/>
          </a:xfrm>
          <a:prstGeom prst="ellipse">
            <a:avLst/>
          </a:prstGeom>
          <a:solidFill>
            <a:srgbClr val="FFFFFF"/>
          </a:solidFill>
          <a:ln/>
        </p:spPr>
        <p:txBody>
          <a:bodyPr/>
          <a:lstStyle/>
          <a:p>
            <a:endParaRPr lang="en-TH"/>
          </a:p>
        </p:txBody>
      </p:sp>
      <p:pic>
        <p:nvPicPr>
          <p:cNvPr id="6" name="Image 0" descr="preencoded.png"/>
          <p:cNvPicPr>
            <a:picLocks noChangeAspect="1"/>
          </p:cNvPicPr>
          <p:nvPr/>
        </p:nvPicPr>
        <p:blipFill>
          <a:blip r:embed="rId3"/>
          <a:stretch>
            <a:fillRect/>
          </a:stretch>
        </p:blipFill>
        <p:spPr>
          <a:xfrm>
            <a:off x="977494" y="2349094"/>
            <a:ext cx="285293" cy="285293"/>
          </a:xfrm>
          <a:prstGeom prst="rect">
            <a:avLst/>
          </a:prstGeom>
        </p:spPr>
      </p:pic>
      <p:sp>
        <p:nvSpPr>
          <p:cNvPr id="7" name="Text 4"/>
          <p:cNvSpPr/>
          <p:nvPr/>
        </p:nvSpPr>
        <p:spPr>
          <a:xfrm>
            <a:off x="822960" y="2926080"/>
            <a:ext cx="30632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Superposition</a:t>
            </a:r>
            <a:endParaRPr lang="en-US" sz="1500" dirty="0"/>
          </a:p>
        </p:txBody>
      </p:sp>
      <p:sp>
        <p:nvSpPr>
          <p:cNvPr id="8" name="Text 5"/>
          <p:cNvSpPr/>
          <p:nvPr/>
        </p:nvSpPr>
        <p:spPr>
          <a:xfrm>
            <a:off x="822960" y="3291840"/>
            <a:ext cx="3063240" cy="914400"/>
          </a:xfrm>
          <a:prstGeom prst="rect">
            <a:avLst/>
          </a:prstGeom>
          <a:noFill/>
          <a:ln/>
        </p:spPr>
        <p:txBody>
          <a:bodyPr wrap="square" rtlCol="0" anchor="ctr"/>
          <a:lstStyle/>
          <a:p>
            <a:pPr marL="0" indent="0">
              <a:buNone/>
            </a:pPr>
            <a:r>
              <a:rPr lang="en-US" sz="1150" dirty="0">
                <a:solidFill>
                  <a:srgbClr val="D8D4F2"/>
                </a:solidFill>
                <a:latin typeface="Calibri" pitchFamily="34" charset="0"/>
                <a:ea typeface="Calibri" pitchFamily="34" charset="-122"/>
                <a:cs typeface="Calibri" pitchFamily="34" charset="-120"/>
              </a:rPr>
              <a:t>A qubit holds a linear combination of 0 and 1 at once, letting n qubits represent 2ⁿ states simultaneously.</a:t>
            </a:r>
            <a:endParaRPr lang="en-US" sz="1150" dirty="0"/>
          </a:p>
        </p:txBody>
      </p:sp>
      <p:sp>
        <p:nvSpPr>
          <p:cNvPr id="9" name="Shape 6"/>
          <p:cNvSpPr/>
          <p:nvPr/>
        </p:nvSpPr>
        <p:spPr>
          <a:xfrm>
            <a:off x="4389120" y="1920240"/>
            <a:ext cx="3611880" cy="2377440"/>
          </a:xfrm>
          <a:prstGeom prst="roundRect">
            <a:avLst>
              <a:gd name="adj" fmla="val 4615"/>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10" name="Shape 7"/>
          <p:cNvSpPr/>
          <p:nvPr/>
        </p:nvSpPr>
        <p:spPr>
          <a:xfrm>
            <a:off x="4663440" y="2194560"/>
            <a:ext cx="594360" cy="594360"/>
          </a:xfrm>
          <a:prstGeom prst="ellipse">
            <a:avLst/>
          </a:prstGeom>
          <a:solidFill>
            <a:srgbClr val="FFFFFF"/>
          </a:solidFill>
          <a:ln/>
        </p:spPr>
        <p:txBody>
          <a:bodyPr/>
          <a:lstStyle/>
          <a:p>
            <a:endParaRPr lang="en-TH"/>
          </a:p>
        </p:txBody>
      </p:sp>
      <p:pic>
        <p:nvPicPr>
          <p:cNvPr id="11" name="Image 1" descr="preencoded.png"/>
          <p:cNvPicPr>
            <a:picLocks noChangeAspect="1"/>
          </p:cNvPicPr>
          <p:nvPr/>
        </p:nvPicPr>
        <p:blipFill>
          <a:blip r:embed="rId4"/>
          <a:stretch>
            <a:fillRect/>
          </a:stretch>
        </p:blipFill>
        <p:spPr>
          <a:xfrm>
            <a:off x="4817974" y="2349094"/>
            <a:ext cx="285293" cy="285293"/>
          </a:xfrm>
          <a:prstGeom prst="rect">
            <a:avLst/>
          </a:prstGeom>
        </p:spPr>
      </p:pic>
      <p:sp>
        <p:nvSpPr>
          <p:cNvPr id="12" name="Text 8"/>
          <p:cNvSpPr/>
          <p:nvPr/>
        </p:nvSpPr>
        <p:spPr>
          <a:xfrm>
            <a:off x="4663440" y="2926080"/>
            <a:ext cx="30632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Entanglement</a:t>
            </a:r>
            <a:endParaRPr lang="en-US" sz="1500" dirty="0"/>
          </a:p>
        </p:txBody>
      </p:sp>
      <p:sp>
        <p:nvSpPr>
          <p:cNvPr id="13" name="Text 9"/>
          <p:cNvSpPr/>
          <p:nvPr/>
        </p:nvSpPr>
        <p:spPr>
          <a:xfrm>
            <a:off x="4663440" y="3291840"/>
            <a:ext cx="3063240" cy="914400"/>
          </a:xfrm>
          <a:prstGeom prst="rect">
            <a:avLst/>
          </a:prstGeom>
          <a:noFill/>
          <a:ln/>
        </p:spPr>
        <p:txBody>
          <a:bodyPr wrap="square" rtlCol="0" anchor="ctr"/>
          <a:lstStyle/>
          <a:p>
            <a:pPr marL="0" indent="0">
              <a:buNone/>
            </a:pPr>
            <a:r>
              <a:rPr lang="en-US" sz="1150" dirty="0">
                <a:solidFill>
                  <a:srgbClr val="D8D4F2"/>
                </a:solidFill>
                <a:latin typeface="Calibri" pitchFamily="34" charset="0"/>
                <a:ea typeface="Calibri" pitchFamily="34" charset="-122"/>
                <a:cs typeface="Calibri" pitchFamily="34" charset="-120"/>
              </a:rPr>
              <a:t>Linked qubits update each other's state instantly, regardless of distance, coordinating computation.</a:t>
            </a:r>
            <a:endParaRPr lang="en-US" sz="1150" dirty="0"/>
          </a:p>
        </p:txBody>
      </p:sp>
      <p:sp>
        <p:nvSpPr>
          <p:cNvPr id="14" name="Shape 10"/>
          <p:cNvSpPr/>
          <p:nvPr/>
        </p:nvSpPr>
        <p:spPr>
          <a:xfrm>
            <a:off x="8229600" y="1920240"/>
            <a:ext cx="3611880" cy="2377440"/>
          </a:xfrm>
          <a:prstGeom prst="roundRect">
            <a:avLst>
              <a:gd name="adj" fmla="val 4615"/>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15" name="Shape 11"/>
          <p:cNvSpPr/>
          <p:nvPr/>
        </p:nvSpPr>
        <p:spPr>
          <a:xfrm>
            <a:off x="8503920" y="2194560"/>
            <a:ext cx="594360" cy="594360"/>
          </a:xfrm>
          <a:prstGeom prst="ellipse">
            <a:avLst/>
          </a:prstGeom>
          <a:solidFill>
            <a:srgbClr val="FFFFFF"/>
          </a:solidFill>
          <a:ln/>
        </p:spPr>
        <p:txBody>
          <a:bodyPr/>
          <a:lstStyle/>
          <a:p>
            <a:endParaRPr lang="en-TH"/>
          </a:p>
        </p:txBody>
      </p:sp>
      <p:pic>
        <p:nvPicPr>
          <p:cNvPr id="16" name="Image 2" descr="preencoded.png"/>
          <p:cNvPicPr>
            <a:picLocks noChangeAspect="1"/>
          </p:cNvPicPr>
          <p:nvPr/>
        </p:nvPicPr>
        <p:blipFill>
          <a:blip r:embed="rId5"/>
          <a:stretch>
            <a:fillRect/>
          </a:stretch>
        </p:blipFill>
        <p:spPr>
          <a:xfrm>
            <a:off x="8658454" y="2349094"/>
            <a:ext cx="285293" cy="285293"/>
          </a:xfrm>
          <a:prstGeom prst="rect">
            <a:avLst/>
          </a:prstGeom>
        </p:spPr>
      </p:pic>
      <p:sp>
        <p:nvSpPr>
          <p:cNvPr id="17" name="Text 12"/>
          <p:cNvSpPr/>
          <p:nvPr/>
        </p:nvSpPr>
        <p:spPr>
          <a:xfrm>
            <a:off x="8503920" y="2926080"/>
            <a:ext cx="30632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Quantum Interference</a:t>
            </a:r>
            <a:endParaRPr lang="en-US" sz="1500" dirty="0"/>
          </a:p>
        </p:txBody>
      </p:sp>
      <p:sp>
        <p:nvSpPr>
          <p:cNvPr id="18" name="Text 13"/>
          <p:cNvSpPr/>
          <p:nvPr/>
        </p:nvSpPr>
        <p:spPr>
          <a:xfrm>
            <a:off x="8503920" y="3291840"/>
            <a:ext cx="3063240" cy="914400"/>
          </a:xfrm>
          <a:prstGeom prst="rect">
            <a:avLst/>
          </a:prstGeom>
          <a:noFill/>
          <a:ln/>
        </p:spPr>
        <p:txBody>
          <a:bodyPr wrap="square" rtlCol="0" anchor="ctr"/>
          <a:lstStyle/>
          <a:p>
            <a:pPr marL="0" indent="0">
              <a:buNone/>
            </a:pPr>
            <a:r>
              <a:rPr lang="en-US" sz="1150" dirty="0">
                <a:solidFill>
                  <a:srgbClr val="D8D4F2"/>
                </a:solidFill>
                <a:latin typeface="Calibri" pitchFamily="34" charset="0"/>
                <a:ea typeface="Calibri" pitchFamily="34" charset="-122"/>
                <a:cs typeface="Calibri" pitchFamily="34" charset="-120"/>
              </a:rPr>
              <a:t>Probability waves are manipulated to cancel wrong answers and amplify the correct one.</a:t>
            </a:r>
            <a:endParaRPr lang="en-US" sz="1150" dirty="0"/>
          </a:p>
        </p:txBody>
      </p:sp>
      <p:sp>
        <p:nvSpPr>
          <p:cNvPr id="19" name="Shape 14"/>
          <p:cNvSpPr/>
          <p:nvPr/>
        </p:nvSpPr>
        <p:spPr>
          <a:xfrm>
            <a:off x="548640" y="4572000"/>
            <a:ext cx="11064240" cy="1600200"/>
          </a:xfrm>
          <a:prstGeom prst="roundRect">
            <a:avLst>
              <a:gd name="adj" fmla="val 6857"/>
            </a:avLst>
          </a:prstGeom>
          <a:solidFill>
            <a:srgbClr val="5B3FA0"/>
          </a:solidFill>
          <a:ln/>
          <a:effectLst>
            <a:outerShdw blurRad="101600" dist="38100" dir="2700000" algn="bl" rotWithShape="0">
              <a:srgbClr val="000000">
                <a:alpha val="12000"/>
              </a:srgbClr>
            </a:outerShdw>
          </a:effectLst>
        </p:spPr>
        <p:txBody>
          <a:bodyPr/>
          <a:lstStyle/>
          <a:p>
            <a:endParaRPr lang="en-TH"/>
          </a:p>
        </p:txBody>
      </p:sp>
      <p:sp>
        <p:nvSpPr>
          <p:cNvPr id="20" name="Text 15"/>
          <p:cNvSpPr/>
          <p:nvPr/>
        </p:nvSpPr>
        <p:spPr>
          <a:xfrm>
            <a:off x="914400" y="4754880"/>
            <a:ext cx="10332720" cy="1280160"/>
          </a:xfrm>
          <a:prstGeom prst="rect">
            <a:avLst/>
          </a:prstGeom>
          <a:noFill/>
          <a:ln/>
        </p:spPr>
        <p:txBody>
          <a:bodyPr wrap="square"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Analogy: a classical computer solves a maze by trying one path at a time, backtracking on dead ends. A quantum computer floods the entire maze with water at once, instantly revealing which path flows out.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31520" cy="731520"/>
          </a:xfrm>
          <a:prstGeom prst="ellipse">
            <a:avLst/>
          </a:prstGeom>
          <a:solidFill>
            <a:srgbClr val="F4F2FB"/>
          </a:solidFill>
          <a:ln/>
        </p:spPr>
        <p:txBody>
          <a:bodyPr/>
          <a:lstStyle/>
          <a:p>
            <a:endParaRPr lang="en-TH"/>
          </a:p>
        </p:txBody>
      </p:sp>
      <p:pic>
        <p:nvPicPr>
          <p:cNvPr id="3" name="Image 0" descr="preencoded.png"/>
          <p:cNvPicPr>
            <a:picLocks noChangeAspect="1"/>
          </p:cNvPicPr>
          <p:nvPr/>
        </p:nvPicPr>
        <p:blipFill>
          <a:blip r:embed="rId3"/>
          <a:stretch>
            <a:fillRect/>
          </a:stretch>
        </p:blipFill>
        <p:spPr>
          <a:xfrm>
            <a:off x="738835" y="647395"/>
            <a:ext cx="351130" cy="351130"/>
          </a:xfrm>
          <a:prstGeom prst="rect">
            <a:avLst/>
          </a:prstGeom>
        </p:spPr>
      </p:pic>
      <p:sp>
        <p:nvSpPr>
          <p:cNvPr id="4" name="Text 1"/>
          <p:cNvSpPr/>
          <p:nvPr/>
        </p:nvSpPr>
        <p:spPr>
          <a:xfrm>
            <a:off x="1463040" y="502920"/>
            <a:ext cx="10058400" cy="640080"/>
          </a:xfrm>
          <a:prstGeom prst="rect">
            <a:avLst/>
          </a:prstGeom>
          <a:noFill/>
          <a:ln/>
        </p:spPr>
        <p:txBody>
          <a:bodyPr wrap="square" rtlCol="0" anchor="ctr"/>
          <a:lstStyle/>
          <a:p>
            <a:pPr marL="0" indent="0">
              <a:buNone/>
            </a:pPr>
            <a:r>
              <a:rPr lang="en-US" sz="2800" b="1" dirty="0">
                <a:solidFill>
                  <a:srgbClr val="1E1B33"/>
                </a:solidFill>
                <a:latin typeface="Cambria" pitchFamily="34" charset="0"/>
                <a:ea typeface="Cambria" pitchFamily="34" charset="-122"/>
                <a:cs typeface="Cambria" pitchFamily="34" charset="-120"/>
              </a:rPr>
              <a:t>Shor's Algorithm: Breaking RSA &amp; ECC</a:t>
            </a:r>
            <a:endParaRPr lang="en-US" sz="2800" dirty="0"/>
          </a:p>
        </p:txBody>
      </p:sp>
      <p:sp>
        <p:nvSpPr>
          <p:cNvPr id="5" name="Text 2"/>
          <p:cNvSpPr/>
          <p:nvPr/>
        </p:nvSpPr>
        <p:spPr>
          <a:xfrm>
            <a:off x="548640" y="1325880"/>
            <a:ext cx="10972800" cy="502920"/>
          </a:xfrm>
          <a:prstGeom prst="rect">
            <a:avLst/>
          </a:prstGeom>
          <a:noFill/>
          <a:ln/>
        </p:spPr>
        <p:txBody>
          <a:bodyPr wrap="square" rtlCol="0" anchor="ctr"/>
          <a:lstStyle/>
          <a:p>
            <a:pPr marL="0" indent="0">
              <a:buNone/>
            </a:pPr>
            <a:r>
              <a:rPr lang="en-US" sz="1350" dirty="0">
                <a:solidFill>
                  <a:srgbClr val="6B6783"/>
                </a:solidFill>
                <a:latin typeface="Calibri" pitchFamily="34" charset="0"/>
                <a:ea typeface="Calibri" pitchFamily="34" charset="-122"/>
                <a:cs typeface="Calibri" pitchFamily="34" charset="-120"/>
              </a:rPr>
              <a:t>Peter Shor, 1994 — uses the Quantum Fourier Transform to solve integer factorization and discrete logarithms in minutes, not millennia.</a:t>
            </a:r>
            <a:endParaRPr lang="en-US" sz="1350" dirty="0"/>
          </a:p>
        </p:txBody>
      </p:sp>
      <p:sp>
        <p:nvSpPr>
          <p:cNvPr id="6" name="Shape 3"/>
          <p:cNvSpPr/>
          <p:nvPr/>
        </p:nvSpPr>
        <p:spPr>
          <a:xfrm>
            <a:off x="548640" y="2011680"/>
            <a:ext cx="11064240" cy="914400"/>
          </a:xfrm>
          <a:prstGeom prst="roundRect">
            <a:avLst>
              <a:gd name="adj" fmla="val 10000"/>
            </a:avLst>
          </a:prstGeom>
          <a:solidFill>
            <a:srgbClr val="FF5C5C"/>
          </a:solidFill>
          <a:ln/>
        </p:spPr>
        <p:txBody>
          <a:bodyPr/>
          <a:lstStyle/>
          <a:p>
            <a:endParaRPr lang="en-TH"/>
          </a:p>
        </p:txBody>
      </p:sp>
      <p:sp>
        <p:nvSpPr>
          <p:cNvPr id="7" name="Text 4"/>
          <p:cNvSpPr/>
          <p:nvPr/>
        </p:nvSpPr>
        <p:spPr>
          <a:xfrm>
            <a:off x="822960" y="2011680"/>
            <a:ext cx="10515600" cy="9144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Impact: completely undermines asymmetric cryptography (RSA, ECC) — an attacker could derive private keys directly from public keys.</a:t>
            </a:r>
            <a:endParaRPr lang="en-US" sz="1400" dirty="0"/>
          </a:p>
        </p:txBody>
      </p:sp>
      <p:sp>
        <p:nvSpPr>
          <p:cNvPr id="8" name="Shape 5"/>
          <p:cNvSpPr/>
          <p:nvPr/>
        </p:nvSpPr>
        <p:spPr>
          <a:xfrm>
            <a:off x="548640" y="3200400"/>
            <a:ext cx="11064240" cy="3017520"/>
          </a:xfrm>
          <a:prstGeom prst="roundRect">
            <a:avLst>
              <a:gd name="adj" fmla="val 3636"/>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9" name="Text 6"/>
          <p:cNvSpPr/>
          <p:nvPr/>
        </p:nvSpPr>
        <p:spPr>
          <a:xfrm>
            <a:off x="822960" y="3383280"/>
            <a:ext cx="10515600" cy="365760"/>
          </a:xfrm>
          <a:prstGeom prst="rect">
            <a:avLst/>
          </a:prstGeom>
          <a:noFill/>
          <a:ln/>
        </p:spPr>
        <p:txBody>
          <a:bodyPr wrap="square" rtlCol="0" anchor="ctr"/>
          <a:lstStyle/>
          <a:p>
            <a:pPr marL="0" indent="0">
              <a:buNone/>
            </a:pPr>
            <a:r>
              <a:rPr lang="en-US" sz="1500" b="1" dirty="0">
                <a:solidFill>
                  <a:srgbClr val="2A1B5D"/>
                </a:solidFill>
                <a:latin typeface="Calibri" pitchFamily="34" charset="0"/>
                <a:ea typeface="Calibri" pitchFamily="34" charset="-122"/>
                <a:cs typeface="Calibri" pitchFamily="34" charset="-120"/>
              </a:rPr>
              <a:t>Analogy: Finding a Pattern in a Massive Sound Wave</a:t>
            </a:r>
            <a:endParaRPr lang="en-US" sz="1500" dirty="0"/>
          </a:p>
        </p:txBody>
      </p:sp>
      <p:sp>
        <p:nvSpPr>
          <p:cNvPr id="10" name="Text 7"/>
          <p:cNvSpPr/>
          <p:nvPr/>
        </p:nvSpPr>
        <p:spPr>
          <a:xfrm>
            <a:off x="822960" y="3794760"/>
            <a:ext cx="10515600" cy="2286000"/>
          </a:xfrm>
          <a:prstGeom prst="rect">
            <a:avLst/>
          </a:prstGeom>
          <a:noFill/>
          <a:ln/>
        </p:spPr>
        <p:txBody>
          <a:bodyPr wrap="square" rtlCol="0" anchor="t"/>
          <a:lstStyle/>
          <a:p>
            <a:pPr marL="0" indent="0">
              <a:buNone/>
            </a:pPr>
            <a:r>
              <a:rPr lang="en-US" sz="1300" dirty="0">
                <a:solidFill>
                  <a:srgbClr val="1E1B33"/>
                </a:solidFill>
                <a:latin typeface="Calibri" pitchFamily="34" charset="0"/>
                <a:ea typeface="Calibri" pitchFamily="34" charset="-122"/>
                <a:cs typeface="Calibri" pitchFamily="34" charset="-120"/>
              </a:rPr>
              <a:t>Imagine a sound wave with a repeating pattern that recurs only once every few billion beats. A classical computer must count beats one at a time — unrealistically slow. A quantum computer instead floods all beats into qubits simultaneously (superposition); through the Quantum Fourier Transform, the irrelevant noise cancels itself out while the true repeating pattern amplifies. Only the answer survives. RSA and ECC's underlying math problems are exactly this kind of hidden pattern.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731520" cy="731520"/>
          </a:xfrm>
          <a:prstGeom prst="ellipse">
            <a:avLst/>
          </a:prstGeom>
          <a:solidFill>
            <a:srgbClr val="F4F2FB"/>
          </a:solidFill>
          <a:ln/>
        </p:spPr>
        <p:txBody>
          <a:bodyPr/>
          <a:lstStyle/>
          <a:p>
            <a:endParaRPr lang="en-TH"/>
          </a:p>
        </p:txBody>
      </p:sp>
      <p:pic>
        <p:nvPicPr>
          <p:cNvPr id="3" name="Image 0" descr="preencoded.png"/>
          <p:cNvPicPr>
            <a:picLocks noChangeAspect="1"/>
          </p:cNvPicPr>
          <p:nvPr/>
        </p:nvPicPr>
        <p:blipFill>
          <a:blip r:embed="rId3"/>
          <a:stretch>
            <a:fillRect/>
          </a:stretch>
        </p:blipFill>
        <p:spPr>
          <a:xfrm>
            <a:off x="738835" y="647395"/>
            <a:ext cx="351130" cy="351130"/>
          </a:xfrm>
          <a:prstGeom prst="rect">
            <a:avLst/>
          </a:prstGeom>
        </p:spPr>
      </p:pic>
      <p:sp>
        <p:nvSpPr>
          <p:cNvPr id="4" name="Text 1"/>
          <p:cNvSpPr/>
          <p:nvPr/>
        </p:nvSpPr>
        <p:spPr>
          <a:xfrm>
            <a:off x="1463040" y="502920"/>
            <a:ext cx="10058400" cy="640080"/>
          </a:xfrm>
          <a:prstGeom prst="rect">
            <a:avLst/>
          </a:prstGeom>
          <a:noFill/>
          <a:ln/>
        </p:spPr>
        <p:txBody>
          <a:bodyPr wrap="square" rtlCol="0" anchor="ctr"/>
          <a:lstStyle/>
          <a:p>
            <a:pPr marL="0" indent="0">
              <a:buNone/>
            </a:pPr>
            <a:r>
              <a:rPr lang="en-US" sz="2800" b="1" dirty="0">
                <a:solidFill>
                  <a:srgbClr val="1E1B33"/>
                </a:solidFill>
                <a:latin typeface="Cambria" pitchFamily="34" charset="0"/>
                <a:ea typeface="Cambria" pitchFamily="34" charset="-122"/>
                <a:cs typeface="Cambria" pitchFamily="34" charset="-120"/>
              </a:rPr>
              <a:t>Grover's Algorithm: Weakening AES</a:t>
            </a:r>
            <a:endParaRPr lang="en-US" sz="2800" dirty="0"/>
          </a:p>
        </p:txBody>
      </p:sp>
      <p:sp>
        <p:nvSpPr>
          <p:cNvPr id="5" name="Text 2"/>
          <p:cNvSpPr/>
          <p:nvPr/>
        </p:nvSpPr>
        <p:spPr>
          <a:xfrm>
            <a:off x="548640" y="1325880"/>
            <a:ext cx="10972800" cy="502920"/>
          </a:xfrm>
          <a:prstGeom prst="rect">
            <a:avLst/>
          </a:prstGeom>
          <a:noFill/>
          <a:ln/>
        </p:spPr>
        <p:txBody>
          <a:bodyPr wrap="square" rtlCol="0" anchor="ctr"/>
          <a:lstStyle/>
          <a:p>
            <a:pPr marL="0" indent="0">
              <a:buNone/>
            </a:pPr>
            <a:r>
              <a:rPr lang="en-US" sz="1350" dirty="0">
                <a:solidFill>
                  <a:srgbClr val="6B6783"/>
                </a:solidFill>
                <a:latin typeface="Calibri" pitchFamily="34" charset="0"/>
                <a:ea typeface="Calibri" pitchFamily="34" charset="-122"/>
                <a:cs typeface="Calibri" pitchFamily="34" charset="-120"/>
              </a:rPr>
              <a:t>Lov Grover, 1996 — a quadratic speedup for unstructured search, applied to brute-forcing symmetric keys.</a:t>
            </a:r>
            <a:endParaRPr lang="en-US" sz="1350" dirty="0"/>
          </a:p>
        </p:txBody>
      </p:sp>
      <p:sp>
        <p:nvSpPr>
          <p:cNvPr id="6" name="Shape 3"/>
          <p:cNvSpPr/>
          <p:nvPr/>
        </p:nvSpPr>
        <p:spPr>
          <a:xfrm>
            <a:off x="548640" y="2011680"/>
            <a:ext cx="6492240" cy="4206240"/>
          </a:xfrm>
          <a:prstGeom prst="roundRect">
            <a:avLst>
              <a:gd name="adj" fmla="val 2609"/>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7" name="Text 4"/>
          <p:cNvSpPr/>
          <p:nvPr/>
        </p:nvSpPr>
        <p:spPr>
          <a:xfrm>
            <a:off x="822960" y="2194560"/>
            <a:ext cx="5943600" cy="365760"/>
          </a:xfrm>
          <a:prstGeom prst="rect">
            <a:avLst/>
          </a:prstGeom>
          <a:noFill/>
          <a:ln/>
        </p:spPr>
        <p:txBody>
          <a:bodyPr wrap="square" rtlCol="0" anchor="ctr"/>
          <a:lstStyle/>
          <a:p>
            <a:pPr marL="0" indent="0">
              <a:buNone/>
            </a:pPr>
            <a:r>
              <a:rPr lang="en-US" sz="1500" b="1" dirty="0">
                <a:solidFill>
                  <a:srgbClr val="2A1B5D"/>
                </a:solidFill>
                <a:latin typeface="Calibri" pitchFamily="34" charset="0"/>
                <a:ea typeface="Calibri" pitchFamily="34" charset="-122"/>
                <a:cs typeface="Calibri" pitchFamily="34" charset="-120"/>
              </a:rPr>
              <a:t>Analogy: The Wall of Lockers</a:t>
            </a:r>
            <a:endParaRPr lang="en-US" sz="1500" dirty="0"/>
          </a:p>
        </p:txBody>
      </p:sp>
      <p:sp>
        <p:nvSpPr>
          <p:cNvPr id="8" name="Text 5"/>
          <p:cNvSpPr/>
          <p:nvPr/>
        </p:nvSpPr>
        <p:spPr>
          <a:xfrm>
            <a:off x="822960" y="2651760"/>
            <a:ext cx="5943600" cy="3383280"/>
          </a:xfrm>
          <a:prstGeom prst="rect">
            <a:avLst/>
          </a:prstGeom>
          <a:noFill/>
          <a:ln/>
        </p:spPr>
        <p:txBody>
          <a:bodyPr wrap="square" rtlCol="0" anchor="ctr"/>
          <a:lstStyle/>
          <a:p>
            <a:pPr marL="0" indent="0">
              <a:buNone/>
            </a:pPr>
            <a:r>
              <a:rPr lang="en-US" sz="1300" dirty="0">
                <a:solidFill>
                  <a:srgbClr val="1E1B33"/>
                </a:solidFill>
                <a:latin typeface="Calibri" pitchFamily="34" charset="0"/>
                <a:ea typeface="Calibri" pitchFamily="34" charset="-122"/>
                <a:cs typeface="Calibri" pitchFamily="34" charset="-120"/>
              </a:rPr>
              <a:t>With N lockers and one hidden object, checking each one by one is too slow. Grover's algorithm peeks into all lockers at once; with each pass, Amplitude Amplification fades out the empty lockers' probability and boosts the correct one — until only it remains.</a:t>
            </a:r>
            <a:endParaRPr lang="en-US" sz="1300" dirty="0"/>
          </a:p>
          <a:p>
            <a:pPr marL="0" indent="0">
              <a:buNone/>
            </a:pPr>
            <a:endParaRPr lang="en-US" sz="1300" dirty="0"/>
          </a:p>
          <a:p>
            <a:pPr marL="0" indent="0">
              <a:buNone/>
            </a:pPr>
            <a:r>
              <a:rPr lang="en-US" sz="1300" dirty="0">
                <a:solidFill>
                  <a:srgbClr val="1E1B33"/>
                </a:solidFill>
                <a:latin typeface="Calibri" pitchFamily="34" charset="0"/>
                <a:ea typeface="Calibri" pitchFamily="34" charset="-122"/>
                <a:cs typeface="Calibri" pitchFamily="34" charset="-120"/>
              </a:rPr>
              <a:t>Result: an N-locker brute force search collapses to roughly √N attempts.</a:t>
            </a:r>
            <a:endParaRPr lang="en-US" sz="1300" dirty="0"/>
          </a:p>
        </p:txBody>
      </p:sp>
      <p:sp>
        <p:nvSpPr>
          <p:cNvPr id="9" name="Shape 6"/>
          <p:cNvSpPr/>
          <p:nvPr/>
        </p:nvSpPr>
        <p:spPr>
          <a:xfrm>
            <a:off x="7269480" y="2011680"/>
            <a:ext cx="4343400" cy="1965960"/>
          </a:xfrm>
          <a:prstGeom prst="roundRect">
            <a:avLst>
              <a:gd name="adj" fmla="val 5581"/>
            </a:avLst>
          </a:prstGeom>
          <a:solidFill>
            <a:srgbClr val="FF5C5C"/>
          </a:solidFill>
          <a:ln/>
          <a:effectLst>
            <a:outerShdw blurRad="101600" dist="38100" dir="2700000" algn="bl" rotWithShape="0">
              <a:srgbClr val="000000">
                <a:alpha val="12000"/>
              </a:srgbClr>
            </a:outerShdw>
          </a:effectLst>
        </p:spPr>
        <p:txBody>
          <a:bodyPr/>
          <a:lstStyle/>
          <a:p>
            <a:endParaRPr lang="en-TH"/>
          </a:p>
        </p:txBody>
      </p:sp>
      <p:sp>
        <p:nvSpPr>
          <p:cNvPr id="10" name="Text 7"/>
          <p:cNvSpPr/>
          <p:nvPr/>
        </p:nvSpPr>
        <p:spPr>
          <a:xfrm>
            <a:off x="7498080" y="2148840"/>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AES-128</a:t>
            </a:r>
            <a:endParaRPr lang="en-US" sz="1400" dirty="0"/>
          </a:p>
        </p:txBody>
      </p:sp>
      <p:sp>
        <p:nvSpPr>
          <p:cNvPr id="11" name="Text 8"/>
          <p:cNvSpPr/>
          <p:nvPr/>
        </p:nvSpPr>
        <p:spPr>
          <a:xfrm>
            <a:off x="7498080" y="2423160"/>
            <a:ext cx="3840480" cy="91440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64</a:t>
            </a:r>
            <a:endParaRPr lang="en-US" sz="4600" dirty="0"/>
          </a:p>
        </p:txBody>
      </p:sp>
      <p:sp>
        <p:nvSpPr>
          <p:cNvPr id="12" name="Text 9"/>
          <p:cNvSpPr/>
          <p:nvPr/>
        </p:nvSpPr>
        <p:spPr>
          <a:xfrm>
            <a:off x="7498080" y="3246120"/>
            <a:ext cx="3840480" cy="640080"/>
          </a:xfrm>
          <a:prstGeom prst="rect">
            <a:avLst/>
          </a:prstGeom>
          <a:noFill/>
          <a:ln/>
        </p:spPr>
        <p:txBody>
          <a:bodyPr wrap="square" rtlCol="0" anchor="ctr"/>
          <a:lstStyle/>
          <a:p>
            <a:pPr marL="0" indent="0">
              <a:buNone/>
            </a:pPr>
            <a:r>
              <a:rPr lang="en-US" sz="1150" dirty="0">
                <a:solidFill>
                  <a:srgbClr val="FFE5E5"/>
                </a:solidFill>
                <a:latin typeface="Calibri" pitchFamily="34" charset="0"/>
                <a:ea typeface="Calibri" pitchFamily="34" charset="-122"/>
                <a:cs typeface="Calibri" pitchFamily="34" charset="-120"/>
              </a:rPr>
              <a:t>effective bits of security — vulnerable</a:t>
            </a:r>
            <a:endParaRPr lang="en-US" sz="1150" dirty="0"/>
          </a:p>
        </p:txBody>
      </p:sp>
      <p:sp>
        <p:nvSpPr>
          <p:cNvPr id="13" name="Shape 10"/>
          <p:cNvSpPr/>
          <p:nvPr/>
        </p:nvSpPr>
        <p:spPr>
          <a:xfrm>
            <a:off x="7269480" y="4160520"/>
            <a:ext cx="4343400" cy="1965960"/>
          </a:xfrm>
          <a:prstGeom prst="roundRect">
            <a:avLst>
              <a:gd name="adj" fmla="val 5581"/>
            </a:avLst>
          </a:prstGeom>
          <a:solidFill>
            <a:srgbClr val="00C2A8"/>
          </a:solidFill>
          <a:ln/>
          <a:effectLst>
            <a:outerShdw blurRad="101600" dist="38100" dir="2700000" algn="bl" rotWithShape="0">
              <a:srgbClr val="000000">
                <a:alpha val="12000"/>
              </a:srgbClr>
            </a:outerShdw>
          </a:effectLst>
        </p:spPr>
        <p:txBody>
          <a:bodyPr/>
          <a:lstStyle/>
          <a:p>
            <a:endParaRPr lang="en-TH"/>
          </a:p>
        </p:txBody>
      </p:sp>
      <p:sp>
        <p:nvSpPr>
          <p:cNvPr id="14" name="Text 11"/>
          <p:cNvSpPr/>
          <p:nvPr/>
        </p:nvSpPr>
        <p:spPr>
          <a:xfrm>
            <a:off x="7498080" y="4297680"/>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AES-256</a:t>
            </a:r>
            <a:endParaRPr lang="en-US" sz="1400" dirty="0"/>
          </a:p>
        </p:txBody>
      </p:sp>
      <p:sp>
        <p:nvSpPr>
          <p:cNvPr id="15" name="Text 12"/>
          <p:cNvSpPr/>
          <p:nvPr/>
        </p:nvSpPr>
        <p:spPr>
          <a:xfrm>
            <a:off x="7498080" y="4572000"/>
            <a:ext cx="3840480" cy="91440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128</a:t>
            </a:r>
            <a:endParaRPr lang="en-US" sz="4600" dirty="0"/>
          </a:p>
        </p:txBody>
      </p:sp>
      <p:sp>
        <p:nvSpPr>
          <p:cNvPr id="16" name="Text 13"/>
          <p:cNvSpPr/>
          <p:nvPr/>
        </p:nvSpPr>
        <p:spPr>
          <a:xfrm>
            <a:off x="7498080" y="5394960"/>
            <a:ext cx="3840480" cy="640080"/>
          </a:xfrm>
          <a:prstGeom prst="rect">
            <a:avLst/>
          </a:prstGeom>
          <a:noFill/>
          <a:ln/>
        </p:spPr>
        <p:txBody>
          <a:bodyPr wrap="square" rtlCol="0" anchor="ctr"/>
          <a:lstStyle/>
          <a:p>
            <a:pPr marL="0" indent="0">
              <a:buNone/>
            </a:pPr>
            <a:r>
              <a:rPr lang="en-US" sz="1150" dirty="0">
                <a:solidFill>
                  <a:srgbClr val="E5FFF9"/>
                </a:solidFill>
                <a:latin typeface="Calibri" pitchFamily="34" charset="0"/>
                <a:ea typeface="Calibri" pitchFamily="34" charset="-122"/>
                <a:cs typeface="Calibri" pitchFamily="34" charset="-120"/>
              </a:rPr>
              <a:t>bits remain — still a strong quantum-resistant barrier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0E2A"/>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2A1B5D"/>
          </a:solidFill>
          <a:ln/>
        </p:spPr>
        <p:txBody>
          <a:bodyPr/>
          <a:lstStyle/>
          <a:p>
            <a:endParaRPr lang="en-TH"/>
          </a:p>
        </p:txBody>
      </p:sp>
      <p:pic>
        <p:nvPicPr>
          <p:cNvPr id="3" name="Image 0" descr="preencoded.png"/>
          <p:cNvPicPr>
            <a:picLocks noChangeAspect="1"/>
          </p:cNvPicPr>
          <p:nvPr/>
        </p:nvPicPr>
        <p:blipFill>
          <a:blip r:embed="rId3"/>
          <a:stretch>
            <a:fillRect/>
          </a:stretch>
        </p:blipFill>
        <p:spPr>
          <a:xfrm>
            <a:off x="762610" y="716890"/>
            <a:ext cx="395021" cy="395021"/>
          </a:xfrm>
          <a:prstGeom prst="rect">
            <a:avLst/>
          </a:prstGeom>
        </p:spPr>
      </p:pic>
      <p:sp>
        <p:nvSpPr>
          <p:cNvPr id="4" name="Text 1"/>
          <p:cNvSpPr/>
          <p:nvPr/>
        </p:nvSpPr>
        <p:spPr>
          <a:xfrm>
            <a:off x="1554480" y="548640"/>
            <a:ext cx="9601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“Harvest Now, Decrypt Later”</a:t>
            </a:r>
            <a:endParaRPr lang="en-US" sz="3000" dirty="0"/>
          </a:p>
        </p:txBody>
      </p:sp>
      <p:sp>
        <p:nvSpPr>
          <p:cNvPr id="5" name="Text 2"/>
          <p:cNvSpPr/>
          <p:nvPr/>
        </p:nvSpPr>
        <p:spPr>
          <a:xfrm>
            <a:off x="548640" y="1417320"/>
            <a:ext cx="10972800" cy="457200"/>
          </a:xfrm>
          <a:prstGeom prst="rect">
            <a:avLst/>
          </a:prstGeom>
          <a:noFill/>
          <a:ln/>
        </p:spPr>
        <p:txBody>
          <a:bodyPr wrap="square" rtlCol="0" anchor="ctr"/>
          <a:lstStyle/>
          <a:p>
            <a:pPr marL="0" indent="0">
              <a:buNone/>
            </a:pPr>
            <a:r>
              <a:rPr lang="en-US" sz="1400" i="1" dirty="0">
                <a:solidFill>
                  <a:srgbClr val="CFCBEE"/>
                </a:solidFill>
                <a:latin typeface="Calibri" pitchFamily="34" charset="0"/>
                <a:ea typeface="Calibri" pitchFamily="34" charset="-122"/>
                <a:cs typeface="Calibri" pitchFamily="34" charset="-120"/>
              </a:rPr>
              <a:t>The immediate crisis: today's encrypted traffic is already being stockpiled.</a:t>
            </a:r>
            <a:endParaRPr lang="en-US" sz="1400" dirty="0"/>
          </a:p>
        </p:txBody>
      </p:sp>
      <p:sp>
        <p:nvSpPr>
          <p:cNvPr id="6" name="Shape 3"/>
          <p:cNvSpPr/>
          <p:nvPr/>
        </p:nvSpPr>
        <p:spPr>
          <a:xfrm>
            <a:off x="548640" y="2057400"/>
            <a:ext cx="11064240" cy="1828800"/>
          </a:xfrm>
          <a:prstGeom prst="roundRect">
            <a:avLst>
              <a:gd name="adj" fmla="val 6000"/>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7" name="Text 4"/>
          <p:cNvSpPr/>
          <p:nvPr/>
        </p:nvSpPr>
        <p:spPr>
          <a:xfrm>
            <a:off x="822960" y="2194560"/>
            <a:ext cx="3657600" cy="274320"/>
          </a:xfrm>
          <a:prstGeom prst="rect">
            <a:avLst/>
          </a:prstGeom>
          <a:noFill/>
          <a:ln/>
        </p:spPr>
        <p:txBody>
          <a:bodyPr wrap="square" rtlCol="0" anchor="ctr"/>
          <a:lstStyle/>
          <a:p>
            <a:pPr marL="0" indent="0">
              <a:buNone/>
            </a:pPr>
            <a:r>
              <a:rPr lang="en-US" sz="1200" b="1" dirty="0">
                <a:solidFill>
                  <a:srgbClr val="00C2A8"/>
                </a:solidFill>
                <a:latin typeface="Calibri" pitchFamily="34" charset="0"/>
                <a:ea typeface="Calibri" pitchFamily="34" charset="-122"/>
                <a:cs typeface="Calibri" pitchFamily="34" charset="-120"/>
              </a:rPr>
              <a:t>Analogy</a:t>
            </a:r>
            <a:endParaRPr lang="en-US" sz="1200" dirty="0"/>
          </a:p>
        </p:txBody>
      </p:sp>
      <p:sp>
        <p:nvSpPr>
          <p:cNvPr id="8" name="Text 5"/>
          <p:cNvSpPr/>
          <p:nvPr/>
        </p:nvSpPr>
        <p:spPr>
          <a:xfrm>
            <a:off x="822960" y="2514600"/>
            <a:ext cx="10332720" cy="1280160"/>
          </a:xfrm>
          <a:prstGeom prst="rect">
            <a:avLst/>
          </a:prstGeom>
          <a:noFill/>
          <a:ln/>
        </p:spPr>
        <p:txBody>
          <a:bodyPr wrap="square" rtlCol="0" anchor="ctr"/>
          <a:lstStyle/>
          <a:p>
            <a:pPr marL="0" indent="0">
              <a:buNone/>
            </a:pPr>
            <a:r>
              <a:rPr lang="en-US" sz="1350" dirty="0">
                <a:solidFill>
                  <a:srgbClr val="E5E2F7"/>
                </a:solidFill>
                <a:latin typeface="Calibri" pitchFamily="34" charset="0"/>
                <a:ea typeface="Calibri" pitchFamily="34" charset="-122"/>
                <a:cs typeface="Calibri" pitchFamily="34" charset="-120"/>
              </a:rPr>
              <a:t>Even an uncrackable chest can be copied. The corrupted mail company can't open it today — but it photographs and warehouses every chest, betting that a future tool (a quantum computer) will eventually unlock the whole archive at once.</a:t>
            </a:r>
            <a:endParaRPr lang="en-US" sz="1350" dirty="0"/>
          </a:p>
        </p:txBody>
      </p:sp>
      <p:sp>
        <p:nvSpPr>
          <p:cNvPr id="9" name="Shape 6"/>
          <p:cNvSpPr/>
          <p:nvPr/>
        </p:nvSpPr>
        <p:spPr>
          <a:xfrm>
            <a:off x="548640" y="4114800"/>
            <a:ext cx="3611880" cy="2286000"/>
          </a:xfrm>
          <a:prstGeom prst="roundRect">
            <a:avLst>
              <a:gd name="adj" fmla="val 4800"/>
            </a:avLst>
          </a:prstGeom>
          <a:solidFill>
            <a:srgbClr val="1C1640"/>
          </a:solidFill>
          <a:ln/>
          <a:effectLst>
            <a:outerShdw blurRad="101600" dist="38100" dir="2700000" algn="bl" rotWithShape="0">
              <a:srgbClr val="000000">
                <a:alpha val="12000"/>
              </a:srgbClr>
            </a:outerShdw>
          </a:effectLst>
        </p:spPr>
        <p:txBody>
          <a:bodyPr/>
          <a:lstStyle/>
          <a:p>
            <a:endParaRPr lang="en-TH"/>
          </a:p>
        </p:txBody>
      </p:sp>
      <p:sp>
        <p:nvSpPr>
          <p:cNvPr id="10" name="Shape 7"/>
          <p:cNvSpPr/>
          <p:nvPr/>
        </p:nvSpPr>
        <p:spPr>
          <a:xfrm>
            <a:off x="822960" y="4343400"/>
            <a:ext cx="548640" cy="548640"/>
          </a:xfrm>
          <a:prstGeom prst="ellipse">
            <a:avLst/>
          </a:prstGeom>
          <a:solidFill>
            <a:srgbClr val="FFFFFF"/>
          </a:solidFill>
          <a:ln/>
        </p:spPr>
        <p:txBody>
          <a:bodyPr/>
          <a:lstStyle/>
          <a:p>
            <a:endParaRPr lang="en-TH"/>
          </a:p>
        </p:txBody>
      </p:sp>
      <p:pic>
        <p:nvPicPr>
          <p:cNvPr id="11" name="Image 1" descr="preencoded.png"/>
          <p:cNvPicPr>
            <a:picLocks noChangeAspect="1"/>
          </p:cNvPicPr>
          <p:nvPr/>
        </p:nvPicPr>
        <p:blipFill>
          <a:blip r:embed="rId4"/>
          <a:stretch>
            <a:fillRect/>
          </a:stretch>
        </p:blipFill>
        <p:spPr>
          <a:xfrm>
            <a:off x="965606" y="4486046"/>
            <a:ext cx="263347" cy="263347"/>
          </a:xfrm>
          <a:prstGeom prst="rect">
            <a:avLst/>
          </a:prstGeom>
        </p:spPr>
      </p:pic>
      <p:sp>
        <p:nvSpPr>
          <p:cNvPr id="12" name="Text 8"/>
          <p:cNvSpPr/>
          <p:nvPr/>
        </p:nvSpPr>
        <p:spPr>
          <a:xfrm>
            <a:off x="822960" y="4983480"/>
            <a:ext cx="3063240" cy="365760"/>
          </a:xfrm>
          <a:prstGeom prst="rect">
            <a:avLst/>
          </a:prstGeom>
          <a:noFill/>
          <a:ln/>
        </p:spPr>
        <p:txBody>
          <a:bodyPr wrap="square" rtlCol="0" anchor="ctr"/>
          <a:lstStyle/>
          <a:p>
            <a:pPr marL="0" indent="0">
              <a:buNone/>
            </a:pPr>
            <a:r>
              <a:rPr lang="en-US" sz="1350" b="1" dirty="0">
                <a:solidFill>
                  <a:srgbClr val="00C2A8"/>
                </a:solidFill>
                <a:latin typeface="Calibri" pitchFamily="34" charset="0"/>
                <a:ea typeface="Calibri" pitchFamily="34" charset="-122"/>
                <a:cs typeface="Calibri" pitchFamily="34" charset="-120"/>
              </a:rPr>
              <a:t>Intercept &amp; Archive</a:t>
            </a:r>
            <a:endParaRPr lang="en-US" sz="1350" dirty="0"/>
          </a:p>
        </p:txBody>
      </p:sp>
      <p:sp>
        <p:nvSpPr>
          <p:cNvPr id="13" name="Text 9"/>
          <p:cNvSpPr/>
          <p:nvPr/>
        </p:nvSpPr>
        <p:spPr>
          <a:xfrm>
            <a:off x="822960" y="5349240"/>
            <a:ext cx="3063240" cy="914400"/>
          </a:xfrm>
          <a:prstGeom prst="rect">
            <a:avLst/>
          </a:prstGeom>
          <a:noFill/>
          <a:ln/>
        </p:spPr>
        <p:txBody>
          <a:bodyPr wrap="square" rtlCol="0" anchor="ctr"/>
          <a:lstStyle/>
          <a:p>
            <a:pPr marL="0" indent="0">
              <a:buNone/>
            </a:pPr>
            <a:r>
              <a:rPr lang="en-US" sz="1100" dirty="0">
                <a:solidFill>
                  <a:srgbClr val="D8D4F2"/>
                </a:solidFill>
                <a:latin typeface="Calibri" pitchFamily="34" charset="0"/>
                <a:ea typeface="Calibri" pitchFamily="34" charset="-122"/>
                <a:cs typeface="Calibri" pitchFamily="34" charset="-120"/>
              </a:rPr>
              <a:t>Threat actors and nation-states are already capturing and storing large volumes of encrypted traffic.</a:t>
            </a:r>
            <a:endParaRPr lang="en-US" sz="1100" dirty="0"/>
          </a:p>
        </p:txBody>
      </p:sp>
      <p:sp>
        <p:nvSpPr>
          <p:cNvPr id="14" name="Shape 10"/>
          <p:cNvSpPr/>
          <p:nvPr/>
        </p:nvSpPr>
        <p:spPr>
          <a:xfrm>
            <a:off x="4389120" y="4114800"/>
            <a:ext cx="3611880" cy="2286000"/>
          </a:xfrm>
          <a:prstGeom prst="roundRect">
            <a:avLst>
              <a:gd name="adj" fmla="val 4800"/>
            </a:avLst>
          </a:prstGeom>
          <a:solidFill>
            <a:srgbClr val="1C1640"/>
          </a:solidFill>
          <a:ln/>
          <a:effectLst>
            <a:outerShdw blurRad="101600" dist="38100" dir="2700000" algn="bl" rotWithShape="0">
              <a:srgbClr val="000000">
                <a:alpha val="12000"/>
              </a:srgbClr>
            </a:outerShdw>
          </a:effectLst>
        </p:spPr>
        <p:txBody>
          <a:bodyPr/>
          <a:lstStyle/>
          <a:p>
            <a:endParaRPr lang="en-TH"/>
          </a:p>
        </p:txBody>
      </p:sp>
      <p:sp>
        <p:nvSpPr>
          <p:cNvPr id="15" name="Shape 11"/>
          <p:cNvSpPr/>
          <p:nvPr/>
        </p:nvSpPr>
        <p:spPr>
          <a:xfrm>
            <a:off x="4663440" y="4343400"/>
            <a:ext cx="548640" cy="548640"/>
          </a:xfrm>
          <a:prstGeom prst="ellipse">
            <a:avLst/>
          </a:prstGeom>
          <a:solidFill>
            <a:srgbClr val="FFFFFF"/>
          </a:solidFill>
          <a:ln/>
        </p:spPr>
        <p:txBody>
          <a:bodyPr/>
          <a:lstStyle/>
          <a:p>
            <a:endParaRPr lang="en-TH"/>
          </a:p>
        </p:txBody>
      </p:sp>
      <p:pic>
        <p:nvPicPr>
          <p:cNvPr id="16" name="Image 2" descr="preencoded.png"/>
          <p:cNvPicPr>
            <a:picLocks noChangeAspect="1"/>
          </p:cNvPicPr>
          <p:nvPr/>
        </p:nvPicPr>
        <p:blipFill>
          <a:blip r:embed="rId5"/>
          <a:stretch>
            <a:fillRect/>
          </a:stretch>
        </p:blipFill>
        <p:spPr>
          <a:xfrm>
            <a:off x="4806086" y="4486046"/>
            <a:ext cx="263347" cy="263347"/>
          </a:xfrm>
          <a:prstGeom prst="rect">
            <a:avLst/>
          </a:prstGeom>
        </p:spPr>
      </p:pic>
      <p:sp>
        <p:nvSpPr>
          <p:cNvPr id="17" name="Text 12"/>
          <p:cNvSpPr/>
          <p:nvPr/>
        </p:nvSpPr>
        <p:spPr>
          <a:xfrm>
            <a:off x="4663440" y="4983480"/>
            <a:ext cx="3063240" cy="365760"/>
          </a:xfrm>
          <a:prstGeom prst="rect">
            <a:avLst/>
          </a:prstGeom>
          <a:noFill/>
          <a:ln/>
        </p:spPr>
        <p:txBody>
          <a:bodyPr wrap="square" rtlCol="0" anchor="ctr"/>
          <a:lstStyle/>
          <a:p>
            <a:pPr marL="0" indent="0">
              <a:buNone/>
            </a:pPr>
            <a:r>
              <a:rPr lang="en-US" sz="1350" b="1" dirty="0">
                <a:solidFill>
                  <a:srgbClr val="00C2A8"/>
                </a:solidFill>
                <a:latin typeface="Calibri" pitchFamily="34" charset="0"/>
                <a:ea typeface="Calibri" pitchFamily="34" charset="-122"/>
                <a:cs typeface="Calibri" pitchFamily="34" charset="-120"/>
              </a:rPr>
              <a:t>Protected... For Now</a:t>
            </a:r>
            <a:endParaRPr lang="en-US" sz="1350" dirty="0"/>
          </a:p>
        </p:txBody>
      </p:sp>
      <p:sp>
        <p:nvSpPr>
          <p:cNvPr id="18" name="Text 13"/>
          <p:cNvSpPr/>
          <p:nvPr/>
        </p:nvSpPr>
        <p:spPr>
          <a:xfrm>
            <a:off x="4663440" y="5349240"/>
            <a:ext cx="3063240" cy="914400"/>
          </a:xfrm>
          <a:prstGeom prst="rect">
            <a:avLst/>
          </a:prstGeom>
          <a:noFill/>
          <a:ln/>
        </p:spPr>
        <p:txBody>
          <a:bodyPr wrap="square" rtlCol="0" anchor="ctr"/>
          <a:lstStyle/>
          <a:p>
            <a:pPr marL="0" indent="0">
              <a:buNone/>
            </a:pPr>
            <a:r>
              <a:rPr lang="en-US" sz="1100" dirty="0">
                <a:solidFill>
                  <a:srgbClr val="D8D4F2"/>
                </a:solidFill>
                <a:latin typeface="Calibri" pitchFamily="34" charset="0"/>
                <a:ea typeface="Calibri" pitchFamily="34" charset="-122"/>
                <a:cs typeface="Calibri" pitchFamily="34" charset="-120"/>
              </a:rPr>
              <a:t>Classical RSA/ECC encryption holds today, but the ciphertext sits in repositories, waiting.</a:t>
            </a:r>
            <a:endParaRPr lang="en-US" sz="1100" dirty="0"/>
          </a:p>
        </p:txBody>
      </p:sp>
      <p:sp>
        <p:nvSpPr>
          <p:cNvPr id="19" name="Shape 14"/>
          <p:cNvSpPr/>
          <p:nvPr/>
        </p:nvSpPr>
        <p:spPr>
          <a:xfrm>
            <a:off x="8229600" y="4114800"/>
            <a:ext cx="3611880" cy="2286000"/>
          </a:xfrm>
          <a:prstGeom prst="roundRect">
            <a:avLst>
              <a:gd name="adj" fmla="val 4800"/>
            </a:avLst>
          </a:prstGeom>
          <a:solidFill>
            <a:srgbClr val="1C1640"/>
          </a:solidFill>
          <a:ln/>
          <a:effectLst>
            <a:outerShdw blurRad="101600" dist="38100" dir="2700000" algn="bl" rotWithShape="0">
              <a:srgbClr val="000000">
                <a:alpha val="12000"/>
              </a:srgbClr>
            </a:outerShdw>
          </a:effectLst>
        </p:spPr>
        <p:txBody>
          <a:bodyPr/>
          <a:lstStyle/>
          <a:p>
            <a:endParaRPr lang="en-TH"/>
          </a:p>
        </p:txBody>
      </p:sp>
      <p:sp>
        <p:nvSpPr>
          <p:cNvPr id="20" name="Shape 15"/>
          <p:cNvSpPr/>
          <p:nvPr/>
        </p:nvSpPr>
        <p:spPr>
          <a:xfrm>
            <a:off x="8503920" y="4343400"/>
            <a:ext cx="548640" cy="548640"/>
          </a:xfrm>
          <a:prstGeom prst="ellipse">
            <a:avLst/>
          </a:prstGeom>
          <a:solidFill>
            <a:srgbClr val="FFFFFF"/>
          </a:solidFill>
          <a:ln/>
        </p:spPr>
        <p:txBody>
          <a:bodyPr/>
          <a:lstStyle/>
          <a:p>
            <a:endParaRPr lang="en-TH"/>
          </a:p>
        </p:txBody>
      </p:sp>
      <p:pic>
        <p:nvPicPr>
          <p:cNvPr id="21" name="Image 3" descr="preencoded.png"/>
          <p:cNvPicPr>
            <a:picLocks noChangeAspect="1"/>
          </p:cNvPicPr>
          <p:nvPr/>
        </p:nvPicPr>
        <p:blipFill>
          <a:blip r:embed="rId6"/>
          <a:stretch>
            <a:fillRect/>
          </a:stretch>
        </p:blipFill>
        <p:spPr>
          <a:xfrm>
            <a:off x="8646566" y="4486046"/>
            <a:ext cx="263347" cy="263347"/>
          </a:xfrm>
          <a:prstGeom prst="rect">
            <a:avLst/>
          </a:prstGeom>
        </p:spPr>
      </p:pic>
      <p:sp>
        <p:nvSpPr>
          <p:cNvPr id="22" name="Text 16"/>
          <p:cNvSpPr/>
          <p:nvPr/>
        </p:nvSpPr>
        <p:spPr>
          <a:xfrm>
            <a:off x="8503920" y="4983480"/>
            <a:ext cx="3063240" cy="365760"/>
          </a:xfrm>
          <a:prstGeom prst="rect">
            <a:avLst/>
          </a:prstGeom>
          <a:noFill/>
          <a:ln/>
        </p:spPr>
        <p:txBody>
          <a:bodyPr wrap="square" rtlCol="0" anchor="ctr"/>
          <a:lstStyle/>
          <a:p>
            <a:pPr marL="0" indent="0">
              <a:buNone/>
            </a:pPr>
            <a:r>
              <a:rPr lang="en-US" sz="1350" b="1" dirty="0">
                <a:solidFill>
                  <a:srgbClr val="00C2A8"/>
                </a:solidFill>
                <a:latin typeface="Calibri" pitchFamily="34" charset="0"/>
                <a:ea typeface="Calibri" pitchFamily="34" charset="-122"/>
                <a:cs typeface="Calibri" pitchFamily="34" charset="-120"/>
              </a:rPr>
              <a:t>Retroactive Decryption</a:t>
            </a:r>
            <a:endParaRPr lang="en-US" sz="1350" dirty="0"/>
          </a:p>
        </p:txBody>
      </p:sp>
      <p:sp>
        <p:nvSpPr>
          <p:cNvPr id="23" name="Text 17"/>
          <p:cNvSpPr/>
          <p:nvPr/>
        </p:nvSpPr>
        <p:spPr>
          <a:xfrm>
            <a:off x="8503920" y="5349240"/>
            <a:ext cx="3063240" cy="914400"/>
          </a:xfrm>
          <a:prstGeom prst="rect">
            <a:avLst/>
          </a:prstGeom>
          <a:noFill/>
          <a:ln/>
        </p:spPr>
        <p:txBody>
          <a:bodyPr wrap="square" rtlCol="0" anchor="ctr"/>
          <a:lstStyle/>
          <a:p>
            <a:pPr marL="0" indent="0">
              <a:buNone/>
            </a:pPr>
            <a:r>
              <a:rPr lang="en-US" sz="1100" dirty="0">
                <a:solidFill>
                  <a:srgbClr val="D8D4F2"/>
                </a:solidFill>
                <a:latin typeface="Calibri" pitchFamily="34" charset="0"/>
                <a:ea typeface="Calibri" pitchFamily="34" charset="-122"/>
                <a:cs typeface="Calibri" pitchFamily="34" charset="-120"/>
              </a:rPr>
              <a:t>Once a stable quantum computer runs Shor's algorithm, decades of stored communication can be decrypted at once.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594360"/>
          </a:xfrm>
          <a:prstGeom prst="rect">
            <a:avLst/>
          </a:prstGeom>
          <a:noFill/>
          <a:ln/>
        </p:spPr>
        <p:txBody>
          <a:bodyPr wrap="square" rtlCol="0" anchor="ctr"/>
          <a:lstStyle/>
          <a:p>
            <a:pPr marL="0" indent="0">
              <a:buNone/>
            </a:pPr>
            <a:r>
              <a:rPr lang="en-US" sz="2800" b="1" dirty="0">
                <a:solidFill>
                  <a:srgbClr val="1E1B33"/>
                </a:solidFill>
                <a:latin typeface="Cambria" pitchFamily="34" charset="0"/>
                <a:ea typeface="Cambria" pitchFamily="34" charset="-122"/>
                <a:cs typeface="Cambria" pitchFamily="34" charset="-120"/>
              </a:rPr>
              <a:t>The Solution: Post-Quantum Cryptography</a:t>
            </a:r>
            <a:endParaRPr lang="en-US" sz="2800" dirty="0"/>
          </a:p>
        </p:txBody>
      </p:sp>
      <p:sp>
        <p:nvSpPr>
          <p:cNvPr id="3" name="Shape 1"/>
          <p:cNvSpPr/>
          <p:nvPr/>
        </p:nvSpPr>
        <p:spPr>
          <a:xfrm>
            <a:off x="548640" y="1097280"/>
            <a:ext cx="11064240" cy="960120"/>
          </a:xfrm>
          <a:prstGeom prst="roundRect">
            <a:avLst>
              <a:gd name="adj" fmla="val 9524"/>
            </a:avLst>
          </a:prstGeom>
          <a:solidFill>
            <a:srgbClr val="F4F2FB"/>
          </a:solidFill>
          <a:ln/>
        </p:spPr>
        <p:txBody>
          <a:bodyPr/>
          <a:lstStyle/>
          <a:p>
            <a:endParaRPr lang="en-TH"/>
          </a:p>
        </p:txBody>
      </p:sp>
      <p:sp>
        <p:nvSpPr>
          <p:cNvPr id="4" name="Text 2"/>
          <p:cNvSpPr/>
          <p:nvPr/>
        </p:nvSpPr>
        <p:spPr>
          <a:xfrm>
            <a:off x="822960" y="1097280"/>
            <a:ext cx="10515600" cy="960120"/>
          </a:xfrm>
          <a:prstGeom prst="rect">
            <a:avLst/>
          </a:prstGeom>
          <a:noFill/>
          <a:ln/>
        </p:spPr>
        <p:txBody>
          <a:bodyPr wrap="square" rtlCol="0" anchor="ctr"/>
          <a:lstStyle/>
          <a:p>
            <a:pPr marL="0" indent="0">
              <a:buNone/>
            </a:pPr>
            <a:r>
              <a:rPr lang="en-US" sz="1300" b="1" dirty="0">
                <a:solidFill>
                  <a:srgbClr val="2A1B5D"/>
                </a:solidFill>
                <a:latin typeface="Calibri" pitchFamily="34" charset="0"/>
                <a:ea typeface="Calibri" pitchFamily="34" charset="-122"/>
                <a:cs typeface="Calibri" pitchFamily="34" charset="-120"/>
              </a:rPr>
              <a:t>PQC vs QKD: </a:t>
            </a:r>
            <a:r>
              <a:rPr lang="en-US" sz="1300" dirty="0">
                <a:solidFill>
                  <a:srgbClr val="1E1B33"/>
                </a:solidFill>
                <a:latin typeface="Calibri" pitchFamily="34" charset="0"/>
                <a:ea typeface="Calibri" pitchFamily="34" charset="-122"/>
                <a:cs typeface="Calibri" pitchFamily="34" charset="-120"/>
              </a:rPr>
              <a:t>Quantum Key Distribution (QKD) needs dedicated quantum hardware to work. Post-Quantum Cryptography (PQC) is purely software — classical math algorithms that run on today's ordinary computers, no hardware changes required.</a:t>
            </a:r>
            <a:endParaRPr lang="en-US" sz="1300" dirty="0"/>
          </a:p>
        </p:txBody>
      </p:sp>
      <p:sp>
        <p:nvSpPr>
          <p:cNvPr id="5" name="Shape 3"/>
          <p:cNvSpPr/>
          <p:nvPr/>
        </p:nvSpPr>
        <p:spPr>
          <a:xfrm>
            <a:off x="548640" y="2240280"/>
            <a:ext cx="5440680" cy="4206240"/>
          </a:xfrm>
          <a:prstGeom prst="roundRect">
            <a:avLst>
              <a:gd name="adj" fmla="val 2609"/>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6" name="Shape 4"/>
          <p:cNvSpPr/>
          <p:nvPr/>
        </p:nvSpPr>
        <p:spPr>
          <a:xfrm>
            <a:off x="822960" y="2468880"/>
            <a:ext cx="548640" cy="548640"/>
          </a:xfrm>
          <a:prstGeom prst="ellipse">
            <a:avLst/>
          </a:prstGeom>
          <a:solidFill>
            <a:srgbClr val="FFFFFF"/>
          </a:solidFill>
          <a:ln/>
        </p:spPr>
        <p:txBody>
          <a:bodyPr/>
          <a:lstStyle/>
          <a:p>
            <a:endParaRPr lang="en-TH"/>
          </a:p>
        </p:txBody>
      </p:sp>
      <p:pic>
        <p:nvPicPr>
          <p:cNvPr id="7" name="Image 0" descr="preencoded.png"/>
          <p:cNvPicPr>
            <a:picLocks noChangeAspect="1"/>
          </p:cNvPicPr>
          <p:nvPr/>
        </p:nvPicPr>
        <p:blipFill>
          <a:blip r:embed="rId3"/>
          <a:stretch>
            <a:fillRect/>
          </a:stretch>
        </p:blipFill>
        <p:spPr>
          <a:xfrm>
            <a:off x="965606" y="2611526"/>
            <a:ext cx="263347" cy="263347"/>
          </a:xfrm>
          <a:prstGeom prst="rect">
            <a:avLst/>
          </a:prstGeom>
        </p:spPr>
      </p:pic>
      <p:sp>
        <p:nvSpPr>
          <p:cNvPr id="8" name="Text 5"/>
          <p:cNvSpPr/>
          <p:nvPr/>
        </p:nvSpPr>
        <p:spPr>
          <a:xfrm>
            <a:off x="1508760" y="2514600"/>
            <a:ext cx="4297680" cy="457200"/>
          </a:xfrm>
          <a:prstGeom prst="rect">
            <a:avLst/>
          </a:prstGeom>
          <a:noFill/>
          <a:ln/>
        </p:spPr>
        <p:txBody>
          <a:bodyPr wrap="square" rtlCol="0" anchor="ctr"/>
          <a:lstStyle/>
          <a:p>
            <a:pPr marL="0" indent="0">
              <a:buNone/>
            </a:pPr>
            <a:r>
              <a:rPr lang="en-US" sz="1500" b="1" dirty="0">
                <a:solidFill>
                  <a:srgbClr val="2A1B5D"/>
                </a:solidFill>
                <a:latin typeface="Calibri" pitchFamily="34" charset="0"/>
                <a:ea typeface="Calibri" pitchFamily="34" charset="-122"/>
                <a:cs typeface="Calibri" pitchFamily="34" charset="-120"/>
              </a:rPr>
              <a:t>Lattice-Based Cryptography</a:t>
            </a:r>
            <a:endParaRPr lang="en-US" sz="1500" dirty="0"/>
          </a:p>
        </p:txBody>
      </p:sp>
      <p:sp>
        <p:nvSpPr>
          <p:cNvPr id="9" name="Text 6"/>
          <p:cNvSpPr/>
          <p:nvPr/>
        </p:nvSpPr>
        <p:spPr>
          <a:xfrm>
            <a:off x="822960" y="3063240"/>
            <a:ext cx="4937760" cy="731520"/>
          </a:xfrm>
          <a:prstGeom prst="rect">
            <a:avLst/>
          </a:prstGeom>
          <a:noFill/>
          <a:ln/>
        </p:spPr>
        <p:txBody>
          <a:bodyPr wrap="square" rtlCol="0" anchor="ctr"/>
          <a:lstStyle/>
          <a:p>
            <a:pPr marL="0" indent="0">
              <a:buNone/>
            </a:pPr>
            <a:r>
              <a:rPr lang="en-US" sz="1200" dirty="0">
                <a:solidFill>
                  <a:srgbClr val="1E1B33"/>
                </a:solidFill>
                <a:latin typeface="Calibri" pitchFamily="34" charset="0"/>
                <a:ea typeface="Calibri" pitchFamily="34" charset="-122"/>
                <a:cs typeface="Calibri" pitchFamily="34" charset="-120"/>
              </a:rPr>
              <a:t>Replaces prime factorization with the Shortest Vector Problem across noisy, multi-dimensional grids (Learning With Errors).</a:t>
            </a:r>
            <a:endParaRPr lang="en-US" sz="1200" dirty="0"/>
          </a:p>
        </p:txBody>
      </p:sp>
      <p:sp>
        <p:nvSpPr>
          <p:cNvPr id="10" name="Text 7"/>
          <p:cNvSpPr/>
          <p:nvPr/>
        </p:nvSpPr>
        <p:spPr>
          <a:xfrm>
            <a:off x="822960" y="3840480"/>
            <a:ext cx="4937760" cy="2468880"/>
          </a:xfrm>
          <a:prstGeom prst="rect">
            <a:avLst/>
          </a:prstGeom>
          <a:noFill/>
          <a:ln/>
        </p:spPr>
        <p:txBody>
          <a:bodyPr wrap="square" rtlCol="0" anchor="ctr"/>
          <a:lstStyle/>
          <a:p>
            <a:pPr marL="0" indent="0">
              <a:buNone/>
            </a:pPr>
            <a:r>
              <a:rPr lang="en-US" sz="1150" i="1" dirty="0">
                <a:solidFill>
                  <a:srgbClr val="6B6783"/>
                </a:solidFill>
                <a:latin typeface="Calibri" pitchFamily="34" charset="0"/>
                <a:ea typeface="Calibri" pitchFamily="34" charset="-122"/>
                <a:cs typeface="Calibri" pitchFamily="34" charset="-120"/>
              </a:rPr>
              <a:t>Analogy: a 500-dimensional forest of gridded trees. Your private key is a compass that filters static instantly. The public key is a book of noisy coordinates — anchored to the compass but looking like chaos to anyone else. A quantum attacker without the compass must test trillions of paths and gets lost.</a:t>
            </a:r>
            <a:endParaRPr lang="en-US" sz="1150" dirty="0"/>
          </a:p>
        </p:txBody>
      </p:sp>
      <p:sp>
        <p:nvSpPr>
          <p:cNvPr id="11" name="Shape 8"/>
          <p:cNvSpPr/>
          <p:nvPr/>
        </p:nvSpPr>
        <p:spPr>
          <a:xfrm>
            <a:off x="6172200" y="2240280"/>
            <a:ext cx="5440680" cy="4206240"/>
          </a:xfrm>
          <a:prstGeom prst="roundRect">
            <a:avLst>
              <a:gd name="adj" fmla="val 2609"/>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12" name="Shape 9"/>
          <p:cNvSpPr/>
          <p:nvPr/>
        </p:nvSpPr>
        <p:spPr>
          <a:xfrm>
            <a:off x="6446520" y="2468880"/>
            <a:ext cx="548640" cy="548640"/>
          </a:xfrm>
          <a:prstGeom prst="ellipse">
            <a:avLst/>
          </a:prstGeom>
          <a:solidFill>
            <a:srgbClr val="FFFFFF"/>
          </a:solidFill>
          <a:ln/>
        </p:spPr>
        <p:txBody>
          <a:bodyPr/>
          <a:lstStyle/>
          <a:p>
            <a:endParaRPr lang="en-TH"/>
          </a:p>
        </p:txBody>
      </p:sp>
      <p:pic>
        <p:nvPicPr>
          <p:cNvPr id="13" name="Image 1" descr="preencoded.png"/>
          <p:cNvPicPr>
            <a:picLocks noChangeAspect="1"/>
          </p:cNvPicPr>
          <p:nvPr/>
        </p:nvPicPr>
        <p:blipFill>
          <a:blip r:embed="rId4"/>
          <a:stretch>
            <a:fillRect/>
          </a:stretch>
        </p:blipFill>
        <p:spPr>
          <a:xfrm>
            <a:off x="6589166" y="2611526"/>
            <a:ext cx="263347" cy="263347"/>
          </a:xfrm>
          <a:prstGeom prst="rect">
            <a:avLst/>
          </a:prstGeom>
        </p:spPr>
      </p:pic>
      <p:sp>
        <p:nvSpPr>
          <p:cNvPr id="14" name="Text 10"/>
          <p:cNvSpPr/>
          <p:nvPr/>
        </p:nvSpPr>
        <p:spPr>
          <a:xfrm>
            <a:off x="7132320" y="2514600"/>
            <a:ext cx="4297680" cy="457200"/>
          </a:xfrm>
          <a:prstGeom prst="rect">
            <a:avLst/>
          </a:prstGeom>
          <a:noFill/>
          <a:ln/>
        </p:spPr>
        <p:txBody>
          <a:bodyPr wrap="square" rtlCol="0" anchor="ctr"/>
          <a:lstStyle/>
          <a:p>
            <a:pPr marL="0" indent="0">
              <a:buNone/>
            </a:pPr>
            <a:r>
              <a:rPr lang="en-US" sz="1500" b="1" dirty="0">
                <a:solidFill>
                  <a:srgbClr val="2A1B5D"/>
                </a:solidFill>
                <a:latin typeface="Calibri" pitchFamily="34" charset="0"/>
                <a:ea typeface="Calibri" pitchFamily="34" charset="-122"/>
                <a:cs typeface="Calibri" pitchFamily="34" charset="-120"/>
              </a:rPr>
              <a:t>Hash-Based Cryptography</a:t>
            </a:r>
            <a:endParaRPr lang="en-US" sz="1500" dirty="0"/>
          </a:p>
        </p:txBody>
      </p:sp>
      <p:sp>
        <p:nvSpPr>
          <p:cNvPr id="15" name="Text 11"/>
          <p:cNvSpPr/>
          <p:nvPr/>
        </p:nvSpPr>
        <p:spPr>
          <a:xfrm>
            <a:off x="6446520" y="3063240"/>
            <a:ext cx="4937760" cy="731520"/>
          </a:xfrm>
          <a:prstGeom prst="rect">
            <a:avLst/>
          </a:prstGeom>
          <a:noFill/>
          <a:ln/>
        </p:spPr>
        <p:txBody>
          <a:bodyPr wrap="square" rtlCol="0" anchor="ctr"/>
          <a:lstStyle/>
          <a:p>
            <a:pPr marL="0" indent="0">
              <a:buNone/>
            </a:pPr>
            <a:r>
              <a:rPr lang="en-US" sz="1200" dirty="0">
                <a:solidFill>
                  <a:srgbClr val="1E1B33"/>
                </a:solidFill>
                <a:latin typeface="Calibri" pitchFamily="34" charset="0"/>
                <a:ea typeface="Calibri" pitchFamily="34" charset="-122"/>
                <a:cs typeface="Calibri" pitchFamily="34" charset="-120"/>
              </a:rPr>
              <a:t>Used for digital signatures. Links one-time signatures into Merkle Trees — security rests purely on one-way hash functions, no algebra to attack.</a:t>
            </a:r>
            <a:endParaRPr lang="en-US" sz="1200" dirty="0"/>
          </a:p>
        </p:txBody>
      </p:sp>
      <p:sp>
        <p:nvSpPr>
          <p:cNvPr id="16" name="Text 12"/>
          <p:cNvSpPr/>
          <p:nvPr/>
        </p:nvSpPr>
        <p:spPr>
          <a:xfrm>
            <a:off x="6446520" y="3840480"/>
            <a:ext cx="4937760" cy="2468880"/>
          </a:xfrm>
          <a:prstGeom prst="rect">
            <a:avLst/>
          </a:prstGeom>
          <a:noFill/>
          <a:ln/>
        </p:spPr>
        <p:txBody>
          <a:bodyPr wrap="square" rtlCol="0" anchor="ctr"/>
          <a:lstStyle/>
          <a:p>
            <a:pPr marL="0" indent="0">
              <a:buNone/>
            </a:pPr>
            <a:r>
              <a:rPr lang="en-US" sz="1150" i="1" dirty="0">
                <a:solidFill>
                  <a:srgbClr val="6B6783"/>
                </a:solidFill>
                <a:latin typeface="Calibri" pitchFamily="34" charset="0"/>
                <a:ea typeface="Calibri" pitchFamily="34" charset="-122"/>
                <a:cs typeface="Calibri" pitchFamily="34" charset="-120"/>
              </a:rPr>
              <a:t>Analogy: a one-way meat grinder built into a tournament bracket. Secret phrases (private key) get ground and paired upward until one master block remains (public key). Signing reveals one path up the bracket — verifiable, but the grinder can never run backward, even for a quantum computer.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155680" cy="594360"/>
          </a:xfrm>
          <a:prstGeom prst="rect">
            <a:avLst/>
          </a:prstGeom>
          <a:noFill/>
          <a:ln/>
        </p:spPr>
        <p:txBody>
          <a:bodyPr wrap="square" rtlCol="0" anchor="ctr"/>
          <a:lstStyle/>
          <a:p>
            <a:pPr marL="0" indent="0">
              <a:buNone/>
            </a:pPr>
            <a:r>
              <a:rPr lang="en-US" sz="2800" b="1" dirty="0">
                <a:solidFill>
                  <a:srgbClr val="1E1B33"/>
                </a:solidFill>
                <a:latin typeface="Cambria" pitchFamily="34" charset="0"/>
                <a:ea typeface="Cambria" pitchFamily="34" charset="-122"/>
                <a:cs typeface="Cambria" pitchFamily="34" charset="-120"/>
              </a:rPr>
              <a:t>Global Standardization: The NIST FIPS Standards</a:t>
            </a:r>
            <a:endParaRPr lang="en-US" sz="2800" dirty="0"/>
          </a:p>
        </p:txBody>
      </p:sp>
      <p:sp>
        <p:nvSpPr>
          <p:cNvPr id="3" name="Text 1"/>
          <p:cNvSpPr/>
          <p:nvPr/>
        </p:nvSpPr>
        <p:spPr>
          <a:xfrm>
            <a:off x="548640" y="1005840"/>
            <a:ext cx="10972800" cy="411480"/>
          </a:xfrm>
          <a:prstGeom prst="rect">
            <a:avLst/>
          </a:prstGeom>
          <a:noFill/>
          <a:ln/>
        </p:spPr>
        <p:txBody>
          <a:bodyPr wrap="square" rtlCol="0" anchor="ctr"/>
          <a:lstStyle/>
          <a:p>
            <a:pPr marL="0" indent="0">
              <a:buNone/>
            </a:pPr>
            <a:r>
              <a:rPr lang="en-US" sz="1350" dirty="0">
                <a:solidFill>
                  <a:srgbClr val="6B6783"/>
                </a:solidFill>
                <a:latin typeface="Calibri" pitchFamily="34" charset="0"/>
                <a:ea typeface="Calibri" pitchFamily="34" charset="-122"/>
                <a:cs typeface="Calibri" pitchFamily="34" charset="-120"/>
              </a:rPr>
              <a:t>Three finalized Federal Information Processing Standards coordinate the worldwide migration.</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2560320"/>
        </p:xfrm>
        <a:graphic>
          <a:graphicData uri="http://schemas.openxmlformats.org/drawingml/2006/table">
            <a:tbl>
              <a:tblPr/>
              <a:tblGrid>
                <a:gridCol w="1645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6400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Standard</a:t>
                      </a:r>
                      <a:endParaRPr lang="en-US" sz="130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solidFill>
                      <a:srgbClr val="2A1B5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Algorithm</a:t>
                      </a:r>
                      <a:endParaRPr lang="en-US" sz="130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solidFill>
                      <a:srgbClr val="2A1B5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Math Domain</a:t>
                      </a:r>
                      <a:endParaRPr lang="en-US" sz="130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solidFill>
                      <a:srgbClr val="2A1B5D"/>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Replaces / Target</a:t>
                      </a:r>
                      <a:endParaRPr lang="en-US" sz="130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solidFill>
                      <a:srgbClr val="2A1B5D"/>
                    </a:solidFill>
                  </a:tcPr>
                </a:tc>
                <a:extLst>
                  <a:ext uri="{0D108BD9-81ED-4DB2-BD59-A6C34878D82A}">
                    <a16:rowId xmlns:a16="http://schemas.microsoft.com/office/drawing/2014/main" val="10000"/>
                  </a:ext>
                </a:extLst>
              </a:tr>
              <a:tr h="640080">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FIPS 203</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ML-KEM (Kyber)</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Module-LWE Lattice</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Key encapsulation — replaces RSA, ECDH</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FIPS 204</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ML-DSA (Dilithium)</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Module-LWE Lattice</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Digital signatures — replaces RSA-Sig, ECDSA</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FIPS 205</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SLH-DSA (SPHINCS+)</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Stateless Merkle Hash</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tc>
                  <a:txBody>
                    <a:bodyPr/>
                    <a:lstStyle/>
                    <a:p>
                      <a:pPr marL="0" indent="0">
                        <a:buNone/>
                      </a:pPr>
                      <a:r>
                        <a:rPr lang="en-US" sz="1250" dirty="0">
                          <a:solidFill>
                            <a:srgbClr val="1E1B33"/>
                          </a:solidFill>
                          <a:latin typeface="Calibri" pitchFamily="34" charset="0"/>
                          <a:ea typeface="Calibri" pitchFamily="34" charset="-122"/>
                          <a:cs typeface="Calibri" pitchFamily="34" charset="-120"/>
                        </a:rPr>
                        <a:t>Backup signature scheme</a:t>
                      </a:r>
                      <a:endParaRPr lang="en-US" sz="1250" dirty="0">
                        <a:latin typeface="Calibri" charset="0"/>
                        <a:ea typeface="Calibri" charset="0"/>
                        <a:cs typeface="Calibri" charset="0"/>
                      </a:endParaRPr>
                    </a:p>
                  </a:txBody>
                  <a:tcPr anchor="ctr">
                    <a:lnL w="9525" cap="flat" cmpd="sng" algn="ctr">
                      <a:solidFill>
                        <a:srgbClr val="E2DEF5"/>
                      </a:solidFill>
                      <a:prstDash val="solid"/>
                      <a:round/>
                      <a:headEnd type="none" w="med" len="med"/>
                      <a:tailEnd type="none" w="med" len="med"/>
                    </a:lnL>
                    <a:lnR w="9525" cap="flat" cmpd="sng" algn="ctr">
                      <a:solidFill>
                        <a:srgbClr val="E2DEF5"/>
                      </a:solidFill>
                      <a:prstDash val="solid"/>
                      <a:round/>
                      <a:headEnd type="none" w="med" len="med"/>
                      <a:tailEnd type="none" w="med" len="med"/>
                    </a:lnR>
                    <a:lnT w="9525" cap="flat" cmpd="sng" algn="ctr">
                      <a:solidFill>
                        <a:srgbClr val="E2DEF5"/>
                      </a:solidFill>
                      <a:prstDash val="solid"/>
                      <a:round/>
                      <a:headEnd type="none" w="med" len="med"/>
                      <a:tailEnd type="none" w="med" len="med"/>
                    </a:lnT>
                    <a:lnB w="9525" cap="flat" cmpd="sng" algn="ctr">
                      <a:solidFill>
                        <a:srgbClr val="E2DEF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4434840"/>
            <a:ext cx="11064240" cy="1737360"/>
          </a:xfrm>
          <a:prstGeom prst="roundRect">
            <a:avLst>
              <a:gd name="adj" fmla="val 6316"/>
            </a:avLst>
          </a:prstGeom>
          <a:solidFill>
            <a:srgbClr val="F4F2FB"/>
          </a:solidFill>
          <a:ln/>
          <a:effectLst>
            <a:outerShdw blurRad="101600" dist="38100" dir="2700000" algn="bl" rotWithShape="0">
              <a:srgbClr val="000000">
                <a:alpha val="12000"/>
              </a:srgbClr>
            </a:outerShdw>
          </a:effectLst>
        </p:spPr>
        <p:txBody>
          <a:bodyPr/>
          <a:lstStyle/>
          <a:p>
            <a:endParaRPr lang="en-TH"/>
          </a:p>
        </p:txBody>
      </p:sp>
      <p:sp>
        <p:nvSpPr>
          <p:cNvPr id="6" name="Text 3"/>
          <p:cNvSpPr/>
          <p:nvPr/>
        </p:nvSpPr>
        <p:spPr>
          <a:xfrm>
            <a:off x="868680" y="4617720"/>
            <a:ext cx="10424160" cy="1371600"/>
          </a:xfrm>
          <a:prstGeom prst="rect">
            <a:avLst/>
          </a:prstGeom>
          <a:noFill/>
          <a:ln/>
        </p:spPr>
        <p:txBody>
          <a:bodyPr wrap="square" rtlCol="0" anchor="ctr"/>
          <a:lstStyle/>
          <a:p>
            <a:pPr marL="0" indent="0">
              <a:buNone/>
            </a:pPr>
            <a:r>
              <a:rPr lang="en-US" sz="1300" b="1" dirty="0">
                <a:solidFill>
                  <a:srgbClr val="2A1B5D"/>
                </a:solidFill>
                <a:latin typeface="Calibri" pitchFamily="34" charset="0"/>
                <a:ea typeface="Calibri" pitchFamily="34" charset="-122"/>
                <a:cs typeface="Calibri" pitchFamily="34" charset="-120"/>
              </a:rPr>
              <a:t>Key Size Challenge: </a:t>
            </a:r>
            <a:r>
              <a:rPr lang="en-US" sz="1300" dirty="0">
                <a:solidFill>
                  <a:srgbClr val="1E1B33"/>
                </a:solidFill>
                <a:latin typeface="Calibri" pitchFamily="34" charset="0"/>
                <a:ea typeface="Calibri" pitchFamily="34" charset="-122"/>
                <a:cs typeface="Calibri" pitchFamily="34" charset="-120"/>
              </a:rPr>
              <a:t>An ECC key is ~32 bytes; an ML-KEM key exceeds 1,000 bytes. Larger keys can fragment packets during handshakes and strain constrained devices like IoT sensors or smartcards.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0E2A"/>
        </a:solidFill>
        <a:effectLst/>
      </p:bgPr>
    </p:bg>
    <p:spTree>
      <p:nvGrpSpPr>
        <p:cNvPr id="1" name=""/>
        <p:cNvGrpSpPr/>
        <p:nvPr/>
      </p:nvGrpSpPr>
      <p:grpSpPr>
        <a:xfrm>
          <a:off x="0" y="0"/>
          <a:ext cx="0" cy="0"/>
          <a:chOff x="0" y="0"/>
          <a:chExt cx="0" cy="0"/>
        </a:xfrm>
      </p:grpSpPr>
      <p:sp>
        <p:nvSpPr>
          <p:cNvPr id="2" name="Text 0"/>
          <p:cNvSpPr/>
          <p:nvPr/>
        </p:nvSpPr>
        <p:spPr>
          <a:xfrm>
            <a:off x="548640" y="457200"/>
            <a:ext cx="1115568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Migration Strategy: Getting There Safely</a:t>
            </a:r>
            <a:endParaRPr lang="en-US" sz="3000" dirty="0"/>
          </a:p>
        </p:txBody>
      </p:sp>
      <p:sp>
        <p:nvSpPr>
          <p:cNvPr id="3" name="Text 1"/>
          <p:cNvSpPr/>
          <p:nvPr/>
        </p:nvSpPr>
        <p:spPr>
          <a:xfrm>
            <a:off x="548640" y="1143000"/>
            <a:ext cx="10972800" cy="411480"/>
          </a:xfrm>
          <a:prstGeom prst="rect">
            <a:avLst/>
          </a:prstGeom>
          <a:noFill/>
          <a:ln/>
        </p:spPr>
        <p:txBody>
          <a:bodyPr wrap="square" rtlCol="0" anchor="ctr"/>
          <a:lstStyle/>
          <a:p>
            <a:pPr marL="0" indent="0">
              <a:buNone/>
            </a:pPr>
            <a:r>
              <a:rPr lang="en-US" sz="1400" dirty="0">
                <a:solidFill>
                  <a:srgbClr val="CFCBEE"/>
                </a:solidFill>
                <a:latin typeface="Calibri" pitchFamily="34" charset="0"/>
                <a:ea typeface="Calibri" pitchFamily="34" charset="-122"/>
                <a:cs typeface="Calibri" pitchFamily="34" charset="-120"/>
              </a:rPr>
              <a:t>Two core principles guide enterprise adoption of PQC.</a:t>
            </a:r>
            <a:endParaRPr lang="en-US" sz="1400" dirty="0"/>
          </a:p>
        </p:txBody>
      </p:sp>
      <p:sp>
        <p:nvSpPr>
          <p:cNvPr id="4" name="Shape 2"/>
          <p:cNvSpPr/>
          <p:nvPr/>
        </p:nvSpPr>
        <p:spPr>
          <a:xfrm>
            <a:off x="548640" y="1920240"/>
            <a:ext cx="5440680" cy="4114800"/>
          </a:xfrm>
          <a:prstGeom prst="roundRect">
            <a:avLst>
              <a:gd name="adj" fmla="val 2667"/>
            </a:avLst>
          </a:prstGeom>
          <a:solidFill>
            <a:srgbClr val="2A1B5D"/>
          </a:solidFill>
          <a:ln/>
          <a:effectLst>
            <a:outerShdw blurRad="101600" dist="38100" dir="2700000" algn="bl" rotWithShape="0">
              <a:srgbClr val="000000">
                <a:alpha val="12000"/>
              </a:srgbClr>
            </a:outerShdw>
          </a:effectLst>
        </p:spPr>
        <p:txBody>
          <a:bodyPr/>
          <a:lstStyle/>
          <a:p>
            <a:endParaRPr lang="en-TH"/>
          </a:p>
        </p:txBody>
      </p:sp>
      <p:sp>
        <p:nvSpPr>
          <p:cNvPr id="5" name="Shape 3"/>
          <p:cNvSpPr/>
          <p:nvPr/>
        </p:nvSpPr>
        <p:spPr>
          <a:xfrm>
            <a:off x="822960" y="2148840"/>
            <a:ext cx="640080" cy="640080"/>
          </a:xfrm>
          <a:prstGeom prst="ellipse">
            <a:avLst/>
          </a:prstGeom>
          <a:solidFill>
            <a:srgbClr val="5B3FA0"/>
          </a:solidFill>
          <a:ln/>
        </p:spPr>
        <p:txBody>
          <a:bodyPr/>
          <a:lstStyle/>
          <a:p>
            <a:endParaRPr lang="en-TH"/>
          </a:p>
        </p:txBody>
      </p:sp>
      <p:pic>
        <p:nvPicPr>
          <p:cNvPr id="6" name="Image 0" descr="preencoded.png"/>
          <p:cNvPicPr>
            <a:picLocks noChangeAspect="1"/>
          </p:cNvPicPr>
          <p:nvPr/>
        </p:nvPicPr>
        <p:blipFill>
          <a:blip r:embed="rId3"/>
          <a:stretch>
            <a:fillRect/>
          </a:stretch>
        </p:blipFill>
        <p:spPr>
          <a:xfrm>
            <a:off x="989381" y="2315261"/>
            <a:ext cx="307238" cy="307238"/>
          </a:xfrm>
          <a:prstGeom prst="rect">
            <a:avLst/>
          </a:prstGeom>
        </p:spPr>
      </p:pic>
      <p:sp>
        <p:nvSpPr>
          <p:cNvPr id="7" name="Text 4"/>
          <p:cNvSpPr/>
          <p:nvPr/>
        </p:nvSpPr>
        <p:spPr>
          <a:xfrm>
            <a:off x="1645920" y="2240280"/>
            <a:ext cx="411480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Hybrid Deployments</a:t>
            </a:r>
            <a:endParaRPr lang="en-US" sz="1700" dirty="0"/>
          </a:p>
        </p:txBody>
      </p:sp>
      <p:sp>
        <p:nvSpPr>
          <p:cNvPr id="8" name="Text 5"/>
          <p:cNvSpPr/>
          <p:nvPr/>
        </p:nvSpPr>
        <p:spPr>
          <a:xfrm>
            <a:off x="822960" y="2834640"/>
            <a:ext cx="4937760" cy="1097280"/>
          </a:xfrm>
          <a:prstGeom prst="rect">
            <a:avLst/>
          </a:prstGeom>
          <a:noFill/>
          <a:ln/>
        </p:spPr>
        <p:txBody>
          <a:bodyPr wrap="square" rtlCol="0" anchor="ctr"/>
          <a:lstStyle/>
          <a:p>
            <a:pPr marL="0" indent="0">
              <a:buNone/>
            </a:pPr>
            <a:r>
              <a:rPr lang="en-US" sz="1300" dirty="0">
                <a:solidFill>
                  <a:srgbClr val="E5E2F7"/>
                </a:solidFill>
                <a:latin typeface="Calibri" pitchFamily="34" charset="0"/>
                <a:ea typeface="Calibri" pitchFamily="34" charset="-122"/>
                <a:cs typeface="Calibri" pitchFamily="34" charset="-120"/>
              </a:rPr>
              <a:t>Wrap payloads in both a classical algorithm (e.g., ECDH) and a post-quantum standard (e.g., ML-KEM) simultaneously.</a:t>
            </a:r>
            <a:endParaRPr lang="en-US" sz="1300" dirty="0"/>
          </a:p>
        </p:txBody>
      </p:sp>
      <p:sp>
        <p:nvSpPr>
          <p:cNvPr id="9" name="Text 6"/>
          <p:cNvSpPr/>
          <p:nvPr/>
        </p:nvSpPr>
        <p:spPr>
          <a:xfrm>
            <a:off x="822960" y="4114800"/>
            <a:ext cx="4937760" cy="1645920"/>
          </a:xfrm>
          <a:prstGeom prst="rect">
            <a:avLst/>
          </a:prstGeom>
          <a:noFill/>
          <a:ln/>
        </p:spPr>
        <p:txBody>
          <a:bodyPr wrap="square" rtlCol="0" anchor="ctr"/>
          <a:lstStyle/>
          <a:p>
            <a:pPr marL="0" indent="0">
              <a:buNone/>
            </a:pPr>
            <a:r>
              <a:rPr lang="en-US" sz="1250" i="1" dirty="0">
                <a:solidFill>
                  <a:srgbClr val="00C2A8"/>
                </a:solidFill>
                <a:latin typeface="Calibri" pitchFamily="34" charset="0"/>
                <a:ea typeface="Calibri" pitchFamily="34" charset="-122"/>
                <a:cs typeface="Calibri" pitchFamily="34" charset="-120"/>
              </a:rPr>
              <a:t>An attacker must break both layers to ever access the data — a safety net during the transition.</a:t>
            </a:r>
            <a:endParaRPr lang="en-US" sz="1250" dirty="0"/>
          </a:p>
        </p:txBody>
      </p:sp>
      <p:sp>
        <p:nvSpPr>
          <p:cNvPr id="10" name="Shape 7"/>
          <p:cNvSpPr/>
          <p:nvPr/>
        </p:nvSpPr>
        <p:spPr>
          <a:xfrm>
            <a:off x="6172200" y="1920240"/>
            <a:ext cx="5440680" cy="4114800"/>
          </a:xfrm>
          <a:prstGeom prst="roundRect">
            <a:avLst>
              <a:gd name="adj" fmla="val 2667"/>
            </a:avLst>
          </a:prstGeom>
          <a:solidFill>
            <a:srgbClr val="5B3FA0"/>
          </a:solidFill>
          <a:ln/>
          <a:effectLst>
            <a:outerShdw blurRad="101600" dist="38100" dir="2700000" algn="bl" rotWithShape="0">
              <a:srgbClr val="000000">
                <a:alpha val="12000"/>
              </a:srgbClr>
            </a:outerShdw>
          </a:effectLst>
        </p:spPr>
        <p:txBody>
          <a:bodyPr/>
          <a:lstStyle/>
          <a:p>
            <a:endParaRPr lang="en-TH"/>
          </a:p>
        </p:txBody>
      </p:sp>
      <p:sp>
        <p:nvSpPr>
          <p:cNvPr id="11" name="Shape 8"/>
          <p:cNvSpPr/>
          <p:nvPr/>
        </p:nvSpPr>
        <p:spPr>
          <a:xfrm>
            <a:off x="6446520" y="2148840"/>
            <a:ext cx="640080" cy="640080"/>
          </a:xfrm>
          <a:prstGeom prst="ellipse">
            <a:avLst/>
          </a:prstGeom>
          <a:solidFill>
            <a:srgbClr val="2A1B5D"/>
          </a:solidFill>
          <a:ln/>
        </p:spPr>
        <p:txBody>
          <a:bodyPr/>
          <a:lstStyle/>
          <a:p>
            <a:endParaRPr lang="en-TH"/>
          </a:p>
        </p:txBody>
      </p:sp>
      <p:pic>
        <p:nvPicPr>
          <p:cNvPr id="12" name="Image 1" descr="preencoded.png"/>
          <p:cNvPicPr>
            <a:picLocks noChangeAspect="1"/>
          </p:cNvPicPr>
          <p:nvPr/>
        </p:nvPicPr>
        <p:blipFill>
          <a:blip r:embed="rId4"/>
          <a:stretch>
            <a:fillRect/>
          </a:stretch>
        </p:blipFill>
        <p:spPr>
          <a:xfrm>
            <a:off x="6612941" y="2315261"/>
            <a:ext cx="307238" cy="307238"/>
          </a:xfrm>
          <a:prstGeom prst="rect">
            <a:avLst/>
          </a:prstGeom>
        </p:spPr>
      </p:pic>
      <p:sp>
        <p:nvSpPr>
          <p:cNvPr id="13" name="Text 9"/>
          <p:cNvSpPr/>
          <p:nvPr/>
        </p:nvSpPr>
        <p:spPr>
          <a:xfrm>
            <a:off x="7269480" y="2240280"/>
            <a:ext cx="4114800" cy="45720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Crypto-Agility</a:t>
            </a:r>
            <a:endParaRPr lang="en-US" sz="1700" dirty="0"/>
          </a:p>
        </p:txBody>
      </p:sp>
      <p:sp>
        <p:nvSpPr>
          <p:cNvPr id="14" name="Text 10"/>
          <p:cNvSpPr/>
          <p:nvPr/>
        </p:nvSpPr>
        <p:spPr>
          <a:xfrm>
            <a:off x="6446520" y="2834640"/>
            <a:ext cx="4937760" cy="1097280"/>
          </a:xfrm>
          <a:prstGeom prst="rect">
            <a:avLst/>
          </a:prstGeom>
          <a:noFill/>
          <a:ln/>
        </p:spPr>
        <p:txBody>
          <a:bodyPr wrap="square" rtlCol="0" anchor="ctr"/>
          <a:lstStyle/>
          <a:p>
            <a:pPr marL="0" indent="0">
              <a:buNone/>
            </a:pPr>
            <a:r>
              <a:rPr lang="en-US" sz="1300" dirty="0">
                <a:solidFill>
                  <a:srgbClr val="E5E2F7"/>
                </a:solidFill>
                <a:latin typeface="Calibri" pitchFamily="34" charset="0"/>
                <a:ea typeface="Calibri" pitchFamily="34" charset="-122"/>
                <a:cs typeface="Calibri" pitchFamily="34" charset="-120"/>
              </a:rPr>
              <a:t>Re-engineer software to remove hard-coded dependencies on any single algorithm.</a:t>
            </a:r>
            <a:endParaRPr lang="en-US" sz="1300" dirty="0"/>
          </a:p>
        </p:txBody>
      </p:sp>
      <p:sp>
        <p:nvSpPr>
          <p:cNvPr id="15" name="Text 11"/>
          <p:cNvSpPr/>
          <p:nvPr/>
        </p:nvSpPr>
        <p:spPr>
          <a:xfrm>
            <a:off x="6446520" y="4114800"/>
            <a:ext cx="4937760" cy="1645920"/>
          </a:xfrm>
          <a:prstGeom prst="rect">
            <a:avLst/>
          </a:prstGeom>
          <a:noFill/>
          <a:ln/>
        </p:spPr>
        <p:txBody>
          <a:bodyPr wrap="square" rtlCol="0" anchor="ctr"/>
          <a:lstStyle/>
          <a:p>
            <a:pPr marL="0" indent="0">
              <a:buNone/>
            </a:pPr>
            <a:r>
              <a:rPr lang="en-US" sz="1250" i="1" dirty="0">
                <a:solidFill>
                  <a:srgbClr val="00C2A8"/>
                </a:solidFill>
                <a:latin typeface="Calibri" pitchFamily="34" charset="0"/>
                <a:ea typeface="Calibri" pitchFamily="34" charset="-122"/>
                <a:cs typeface="Calibri" pitchFamily="34" charset="-120"/>
              </a:rPr>
              <a:t>Modular abstractions let cryptographic protocols and parameters update via configuration — no system rewrite needed.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0E2A"/>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A1B5D">
              <a:alpha val="55000"/>
            </a:srgbClr>
          </a:solidFill>
          <a:ln/>
        </p:spPr>
        <p:txBody>
          <a:bodyPr/>
          <a:lstStyle/>
          <a:p>
            <a:endParaRPr lang="en-TH"/>
          </a:p>
        </p:txBody>
      </p:sp>
      <p:sp>
        <p:nvSpPr>
          <p:cNvPr id="3" name="Shape 1"/>
          <p:cNvSpPr/>
          <p:nvPr/>
        </p:nvSpPr>
        <p:spPr>
          <a:xfrm>
            <a:off x="640080" y="640080"/>
            <a:ext cx="822960" cy="822960"/>
          </a:xfrm>
          <a:prstGeom prst="ellipse">
            <a:avLst/>
          </a:prstGeom>
          <a:solidFill>
            <a:srgbClr val="5B3FA0"/>
          </a:solidFill>
          <a:ln/>
        </p:spPr>
        <p:txBody>
          <a:bodyPr/>
          <a:lstStyle/>
          <a:p>
            <a:endParaRPr lang="en-TH"/>
          </a:p>
        </p:txBody>
      </p:sp>
      <p:pic>
        <p:nvPicPr>
          <p:cNvPr id="4" name="Image 0" descr="preencoded.png"/>
          <p:cNvPicPr>
            <a:picLocks noChangeAspect="1"/>
          </p:cNvPicPr>
          <p:nvPr/>
        </p:nvPicPr>
        <p:blipFill>
          <a:blip r:embed="rId3"/>
          <a:stretch>
            <a:fillRect/>
          </a:stretch>
        </p:blipFill>
        <p:spPr>
          <a:xfrm>
            <a:off x="854050" y="854050"/>
            <a:ext cx="395021" cy="395021"/>
          </a:xfrm>
          <a:prstGeom prst="rect">
            <a:avLst/>
          </a:prstGeom>
        </p:spPr>
      </p:pic>
      <p:sp>
        <p:nvSpPr>
          <p:cNvPr id="5" name="Text 2"/>
          <p:cNvSpPr/>
          <p:nvPr/>
        </p:nvSpPr>
        <p:spPr>
          <a:xfrm>
            <a:off x="1645920" y="713232"/>
            <a:ext cx="54864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6" name="Text 3"/>
          <p:cNvSpPr/>
          <p:nvPr/>
        </p:nvSpPr>
        <p:spPr>
          <a:xfrm>
            <a:off x="640080" y="1691640"/>
            <a:ext cx="10789920" cy="3291840"/>
          </a:xfrm>
          <a:prstGeom prst="rect">
            <a:avLst/>
          </a:prstGeom>
          <a:noFill/>
          <a:ln/>
        </p:spPr>
        <p:txBody>
          <a:bodyPr wrap="square" rtlCol="0" anchor="ctr"/>
          <a:lstStyle/>
          <a:p>
            <a:pPr marL="342900" indent="-342900">
              <a:spcAft>
                <a:spcPts val="1400"/>
              </a:spcAft>
              <a:buSzPct val="100000"/>
              <a:buChar char="•"/>
            </a:pPr>
            <a:r>
              <a:rPr lang="en-US" sz="1600" dirty="0">
                <a:solidFill>
                  <a:srgbClr val="EDEBFA"/>
                </a:solidFill>
                <a:latin typeface="Calibri" pitchFamily="34" charset="0"/>
                <a:ea typeface="Calibri" pitchFamily="34" charset="-122"/>
                <a:cs typeface="Calibri" pitchFamily="34" charset="-120"/>
              </a:rPr>
              <a:t>Quantum computers offer immense processing potential — and threaten the cryptographic trust underpinning the modern internet.</a:t>
            </a:r>
            <a:endParaRPr lang="en-US" sz="1600" dirty="0"/>
          </a:p>
          <a:p>
            <a:pPr marL="342900" indent="-342900">
              <a:spcAft>
                <a:spcPts val="1400"/>
              </a:spcAft>
              <a:buSzPct val="100000"/>
              <a:buChar char="•"/>
            </a:pPr>
            <a:r>
              <a:rPr lang="en-US" sz="1600" dirty="0">
                <a:solidFill>
                  <a:srgbClr val="EDEBFA"/>
                </a:solidFill>
                <a:latin typeface="Calibri" pitchFamily="34" charset="0"/>
                <a:ea typeface="Calibri" pitchFamily="34" charset="-122"/>
                <a:cs typeface="Calibri" pitchFamily="34" charset="-120"/>
              </a:rPr>
              <a:t>Shor's algorithm undermines RSA and ECC; Grover's algorithm halves AES's effective strength.</a:t>
            </a:r>
            <a:endParaRPr lang="en-US" sz="1600" dirty="0"/>
          </a:p>
          <a:p>
            <a:pPr marL="342900" indent="-342900">
              <a:spcAft>
                <a:spcPts val="1400"/>
              </a:spcAft>
              <a:buSzPct val="100000"/>
              <a:buChar char="•"/>
            </a:pPr>
            <a:r>
              <a:rPr lang="en-US" sz="1600" dirty="0">
                <a:solidFill>
                  <a:srgbClr val="EDEBFA"/>
                </a:solidFill>
                <a:latin typeface="Calibri" pitchFamily="34" charset="0"/>
                <a:ea typeface="Calibri" pitchFamily="34" charset="-122"/>
                <a:cs typeface="Calibri" pitchFamily="34" charset="-120"/>
              </a:rPr>
              <a:t>“Harvest Now, Decrypt Later” makes this an active threat today, not a future one.</a:t>
            </a:r>
            <a:endParaRPr lang="en-US" sz="1600" dirty="0"/>
          </a:p>
          <a:p>
            <a:pPr marL="342900" indent="-342900">
              <a:buSzPct val="100000"/>
              <a:buChar char="•"/>
            </a:pPr>
            <a:r>
              <a:rPr lang="en-US" sz="1600" dirty="0">
                <a:solidFill>
                  <a:srgbClr val="EDEBFA"/>
                </a:solidFill>
                <a:latin typeface="Calibri" pitchFamily="34" charset="0"/>
                <a:ea typeface="Calibri" pitchFamily="34" charset="-122"/>
                <a:cs typeface="Calibri" pitchFamily="34" charset="-120"/>
              </a:rPr>
              <a:t>Hybrid deployments and crypto-agility are the essential, immediate steps toward a quantum-safe infrastructure.</a:t>
            </a:r>
            <a:endParaRPr lang="en-US" sz="1600" dirty="0"/>
          </a:p>
        </p:txBody>
      </p:sp>
      <p:sp>
        <p:nvSpPr>
          <p:cNvPr id="7" name="Shape 4"/>
          <p:cNvSpPr/>
          <p:nvPr/>
        </p:nvSpPr>
        <p:spPr>
          <a:xfrm>
            <a:off x="640080" y="5166360"/>
            <a:ext cx="10789920" cy="1188720"/>
          </a:xfrm>
          <a:prstGeom prst="roundRect">
            <a:avLst>
              <a:gd name="adj" fmla="val 9231"/>
            </a:avLst>
          </a:prstGeom>
          <a:solidFill>
            <a:srgbClr val="00C2A8"/>
          </a:solidFill>
          <a:ln/>
          <a:effectLst>
            <a:outerShdw blurRad="101600" dist="38100" dir="2700000" algn="bl" rotWithShape="0">
              <a:srgbClr val="000000">
                <a:alpha val="12000"/>
              </a:srgbClr>
            </a:outerShdw>
          </a:effectLst>
        </p:spPr>
        <p:txBody>
          <a:bodyPr/>
          <a:lstStyle/>
          <a:p>
            <a:endParaRPr lang="en-TH"/>
          </a:p>
        </p:txBody>
      </p:sp>
      <p:sp>
        <p:nvSpPr>
          <p:cNvPr id="8" name="Text 5"/>
          <p:cNvSpPr/>
          <p:nvPr/>
        </p:nvSpPr>
        <p:spPr>
          <a:xfrm>
            <a:off x="914400" y="5166360"/>
            <a:ext cx="10241280" cy="1188720"/>
          </a:xfrm>
          <a:prstGeom prst="rect">
            <a:avLst/>
          </a:prstGeom>
          <a:noFill/>
          <a:ln/>
        </p:spPr>
        <p:txBody>
          <a:bodyPr wrap="square" rtlCol="0" anchor="ctr"/>
          <a:lstStyle/>
          <a:p>
            <a:pPr marL="0" indent="0" algn="ctr">
              <a:buNone/>
            </a:pPr>
            <a:r>
              <a:rPr lang="en-US" sz="1600" b="1" i="1" dirty="0">
                <a:solidFill>
                  <a:srgbClr val="120E2A"/>
                </a:solidFill>
                <a:latin typeface="Calibri" pitchFamily="34" charset="0"/>
                <a:ea typeface="Calibri" pitchFamily="34" charset="-122"/>
                <a:cs typeface="Calibri" pitchFamily="34" charset="-120"/>
              </a:rPr>
              <a:t>The transition to post-quantum cryptography is not optional — it is a matter of when, not if.</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1452</Words>
  <Application>Microsoft Macintosh PowerPoint</Application>
  <PresentationFormat>Widescreen</PresentationFormat>
  <Paragraphs>126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Post-Quantum Cryptography</dc:title>
  <dc:subject>PptxGenJS Presentation</dc:subject>
  <dc:creator>Nathan Tanaboriboon</dc:creator>
  <cp:lastModifiedBy>NATHAN TANABORIBOON</cp:lastModifiedBy>
  <cp:revision>1</cp:revision>
  <dcterms:created xsi:type="dcterms:W3CDTF">2026-06-30T16:44:06Z</dcterms:created>
  <dcterms:modified xsi:type="dcterms:W3CDTF">2026-06-30T16:45:53Z</dcterms:modified>
</cp:coreProperties>
</file>